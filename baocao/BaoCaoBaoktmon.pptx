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Baloo" charset="1" panose="03080902040302020200"/>
      <p:regular r:id="rId33"/>
    </p:embeddedFont>
    <p:embeddedFont>
      <p:font typeface="Paytone One" charset="1" panose="00000500000000000000"/>
      <p:regular r:id="rId34"/>
    </p:embeddedFont>
    <p:embeddedFont>
      <p:font typeface="Poppins Bold" charset="1" panose="00000800000000000000"/>
      <p:regular r:id="rId35"/>
    </p:embeddedFont>
    <p:embeddedFont>
      <p:font typeface="Poppins" charset="1" panose="00000500000000000000"/>
      <p:regular r:id="rId36"/>
    </p:embeddedFont>
    <p:embeddedFont>
      <p:font typeface="TT Norms Bold" charset="1" panose="02000803030000020004"/>
      <p:regular r:id="rId37"/>
    </p:embeddedFont>
    <p:embeddedFont>
      <p:font typeface="Open Sans Extra Bold" charset="1" panose="020B0906030804020204"/>
      <p:regular r:id="rId38"/>
    </p:embeddedFont>
    <p:embeddedFont>
      <p:font typeface="Calibri (MS) Bold" charset="1" panose="020F0702030404030204"/>
      <p:regular r:id="rId39"/>
    </p:embeddedFont>
    <p:embeddedFont>
      <p:font typeface="Calibri (MS)" charset="1" panose="020F0502020204030204"/>
      <p:regular r:id="rId40"/>
    </p:embeddedFont>
    <p:embeddedFont>
      <p:font typeface="TT Norms" charset="1" panose="02000503030000020003"/>
      <p:regular r:id="rId41"/>
    </p:embeddedFont>
    <p:embeddedFont>
      <p:font typeface="Calibri (MS) Italics" charset="1" panose="020F05020202040A0204"/>
      <p:regular r:id="rId42"/>
    </p:embeddedFont>
    <p:embeddedFont>
      <p:font typeface="TT Norms Italics" charset="1" panose="02000503030000090003"/>
      <p:regular r:id="rId43"/>
    </p:embeddedFont>
    <p:embeddedFont>
      <p:font typeface="Perandory" charset="1" panose="00000000000000000000"/>
      <p:regular r:id="rId44"/>
    </p:embeddedFont>
    <p:embeddedFont>
      <p:font typeface="Fira Code" charset="1" panose="020B0809050000020004"/>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9890335" y="-636819"/>
            <a:ext cx="18562305" cy="8555165"/>
            <a:chOff x="0" y="0"/>
            <a:chExt cx="406400" cy="187305"/>
          </a:xfrm>
        </p:grpSpPr>
        <p:sp>
          <p:nvSpPr>
            <p:cNvPr name="Freeform 3" id="3"/>
            <p:cNvSpPr/>
            <p:nvPr/>
          </p:nvSpPr>
          <p:spPr>
            <a:xfrm flipH="false" flipV="false" rot="0">
              <a:off x="0" y="0"/>
              <a:ext cx="406400" cy="187305"/>
            </a:xfrm>
            <a:custGeom>
              <a:avLst/>
              <a:gdLst/>
              <a:ahLst/>
              <a:cxnLst/>
              <a:rect r="r" b="b" t="t" l="l"/>
              <a:pathLst>
                <a:path h="187305" w="406400">
                  <a:moveTo>
                    <a:pt x="203200" y="0"/>
                  </a:moveTo>
                  <a:lnTo>
                    <a:pt x="203200" y="0"/>
                  </a:lnTo>
                  <a:lnTo>
                    <a:pt x="406400" y="187305"/>
                  </a:lnTo>
                  <a:lnTo>
                    <a:pt x="0" y="187305"/>
                  </a:lnTo>
                  <a:lnTo>
                    <a:pt x="203200" y="0"/>
                  </a:lnTo>
                  <a:close/>
                </a:path>
              </a:pathLst>
            </a:custGeom>
            <a:solidFill>
              <a:srgbClr val="F8C719"/>
            </a:solidFill>
          </p:spPr>
        </p:sp>
        <p:sp>
          <p:nvSpPr>
            <p:cNvPr name="TextBox 4" id="4"/>
            <p:cNvSpPr txBox="true"/>
            <p:nvPr/>
          </p:nvSpPr>
          <p:spPr>
            <a:xfrm>
              <a:off x="127000" y="-47625"/>
              <a:ext cx="152400" cy="234930"/>
            </a:xfrm>
            <a:prstGeom prst="rect">
              <a:avLst/>
            </a:prstGeom>
          </p:spPr>
          <p:txBody>
            <a:bodyPr anchor="ctr" rtlCol="false" tIns="50800" lIns="50800" bIns="50800" rIns="50800"/>
            <a:lstStyle/>
            <a:p>
              <a:pPr algn="ctr">
                <a:lnSpc>
                  <a:spcPts val="2100"/>
                </a:lnSpc>
              </a:pPr>
            </a:p>
          </p:txBody>
        </p:sp>
      </p:grpSp>
      <p:grpSp>
        <p:nvGrpSpPr>
          <p:cNvPr name="Group 5" id="5"/>
          <p:cNvGrpSpPr>
            <a:grpSpLocks noChangeAspect="true"/>
          </p:cNvGrpSpPr>
          <p:nvPr/>
        </p:nvGrpSpPr>
        <p:grpSpPr>
          <a:xfrm rot="0">
            <a:off x="10795774" y="1781637"/>
            <a:ext cx="12503082" cy="10287000"/>
            <a:chOff x="0" y="0"/>
            <a:chExt cx="6184570" cy="5088399"/>
          </a:xfrm>
        </p:grpSpPr>
        <p:sp>
          <p:nvSpPr>
            <p:cNvPr name="Freeform 6" id="6"/>
            <p:cNvSpPr/>
            <p:nvPr/>
          </p:nvSpPr>
          <p:spPr>
            <a:xfrm flipH="false" flipV="false" rot="0">
              <a:off x="0" y="0"/>
              <a:ext cx="6184570" cy="5088399"/>
            </a:xfrm>
            <a:custGeom>
              <a:avLst/>
              <a:gdLst/>
              <a:ahLst/>
              <a:cxnLst/>
              <a:rect r="r" b="b" t="t" l="l"/>
              <a:pathLst>
                <a:path h="5088399" w="6184570">
                  <a:moveTo>
                    <a:pt x="3433653" y="2544200"/>
                  </a:moveTo>
                  <a:lnTo>
                    <a:pt x="6184570" y="5088399"/>
                  </a:lnTo>
                  <a:lnTo>
                    <a:pt x="2750917" y="5088399"/>
                  </a:lnTo>
                  <a:lnTo>
                    <a:pt x="0" y="2544200"/>
                  </a:lnTo>
                  <a:lnTo>
                    <a:pt x="2750917" y="0"/>
                  </a:lnTo>
                  <a:lnTo>
                    <a:pt x="6184570" y="0"/>
                  </a:lnTo>
                  <a:lnTo>
                    <a:pt x="3433653" y="2544200"/>
                  </a:lnTo>
                  <a:close/>
                </a:path>
              </a:pathLst>
            </a:custGeom>
            <a:solidFill>
              <a:srgbClr val="FFFFFF"/>
            </a:solidFill>
          </p:spPr>
        </p:sp>
        <p:sp>
          <p:nvSpPr>
            <p:cNvPr name="Freeform 7" id="7"/>
            <p:cNvSpPr/>
            <p:nvPr/>
          </p:nvSpPr>
          <p:spPr>
            <a:xfrm flipH="false" flipV="false" rot="0">
              <a:off x="0" y="0"/>
              <a:ext cx="6184570" cy="5088399"/>
            </a:xfrm>
            <a:custGeom>
              <a:avLst/>
              <a:gdLst/>
              <a:ahLst/>
              <a:cxnLst/>
              <a:rect r="r" b="b" t="t" l="l"/>
              <a:pathLst>
                <a:path h="5088399" w="6184570">
                  <a:moveTo>
                    <a:pt x="3433653" y="2544200"/>
                  </a:moveTo>
                  <a:lnTo>
                    <a:pt x="6184570" y="5088399"/>
                  </a:lnTo>
                  <a:lnTo>
                    <a:pt x="2750917" y="5088399"/>
                  </a:lnTo>
                  <a:lnTo>
                    <a:pt x="0" y="2544200"/>
                  </a:lnTo>
                  <a:lnTo>
                    <a:pt x="2750917" y="0"/>
                  </a:lnTo>
                  <a:lnTo>
                    <a:pt x="6184570" y="0"/>
                  </a:lnTo>
                  <a:lnTo>
                    <a:pt x="3433653" y="2544200"/>
                  </a:lnTo>
                  <a:close/>
                </a:path>
              </a:pathLst>
            </a:custGeom>
            <a:blipFill>
              <a:blip r:embed="rId2"/>
              <a:stretch>
                <a:fillRect l="-23133" t="0" r="-23133" b="0"/>
              </a:stretch>
            </a:blipFill>
          </p:spPr>
        </p:sp>
      </p:grpSp>
      <p:grpSp>
        <p:nvGrpSpPr>
          <p:cNvPr name="Group 8" id="8"/>
          <p:cNvGrpSpPr/>
          <p:nvPr/>
        </p:nvGrpSpPr>
        <p:grpSpPr>
          <a:xfrm rot="0">
            <a:off x="6870263" y="7117004"/>
            <a:ext cx="7555842" cy="3482406"/>
            <a:chOff x="0" y="0"/>
            <a:chExt cx="406400" cy="187305"/>
          </a:xfrm>
        </p:grpSpPr>
        <p:sp>
          <p:nvSpPr>
            <p:cNvPr name="Freeform 9" id="9"/>
            <p:cNvSpPr/>
            <p:nvPr/>
          </p:nvSpPr>
          <p:spPr>
            <a:xfrm flipH="false" flipV="false" rot="0">
              <a:off x="0" y="0"/>
              <a:ext cx="406400" cy="187305"/>
            </a:xfrm>
            <a:custGeom>
              <a:avLst/>
              <a:gdLst/>
              <a:ahLst/>
              <a:cxnLst/>
              <a:rect r="r" b="b" t="t" l="l"/>
              <a:pathLst>
                <a:path h="187305" w="406400">
                  <a:moveTo>
                    <a:pt x="203200" y="0"/>
                  </a:moveTo>
                  <a:lnTo>
                    <a:pt x="203200" y="0"/>
                  </a:lnTo>
                  <a:lnTo>
                    <a:pt x="406400" y="187305"/>
                  </a:lnTo>
                  <a:lnTo>
                    <a:pt x="0" y="187305"/>
                  </a:lnTo>
                  <a:lnTo>
                    <a:pt x="203200" y="0"/>
                  </a:lnTo>
                  <a:close/>
                </a:path>
              </a:pathLst>
            </a:custGeom>
            <a:solidFill>
              <a:srgbClr val="F8C719">
                <a:alpha val="80000"/>
              </a:srgbClr>
            </a:solidFill>
          </p:spPr>
        </p:sp>
        <p:sp>
          <p:nvSpPr>
            <p:cNvPr name="TextBox 10" id="10"/>
            <p:cNvSpPr txBox="true"/>
            <p:nvPr/>
          </p:nvSpPr>
          <p:spPr>
            <a:xfrm>
              <a:off x="127000" y="-47625"/>
              <a:ext cx="152400" cy="234930"/>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4655725" y="0"/>
            <a:ext cx="1437021" cy="1437021"/>
          </a:xfrm>
          <a:custGeom>
            <a:avLst/>
            <a:gdLst/>
            <a:ahLst/>
            <a:cxnLst/>
            <a:rect r="r" b="b" t="t" l="l"/>
            <a:pathLst>
              <a:path h="1437021" w="1437021">
                <a:moveTo>
                  <a:pt x="0" y="0"/>
                </a:moveTo>
                <a:lnTo>
                  <a:pt x="1437021" y="0"/>
                </a:lnTo>
                <a:lnTo>
                  <a:pt x="1437021" y="1437021"/>
                </a:lnTo>
                <a:lnTo>
                  <a:pt x="0" y="1437021"/>
                </a:lnTo>
                <a:lnTo>
                  <a:pt x="0" y="0"/>
                </a:lnTo>
                <a:close/>
              </a:path>
            </a:pathLst>
          </a:custGeom>
          <a:blipFill>
            <a:blip r:embed="rId3"/>
            <a:stretch>
              <a:fillRect l="0" t="0" r="0" b="0"/>
            </a:stretch>
          </a:blipFill>
        </p:spPr>
      </p:sp>
      <p:sp>
        <p:nvSpPr>
          <p:cNvPr name="TextBox 12" id="12"/>
          <p:cNvSpPr txBox="true"/>
          <p:nvPr/>
        </p:nvSpPr>
        <p:spPr>
          <a:xfrm rot="0">
            <a:off x="2827218" y="1398921"/>
            <a:ext cx="5094036" cy="851284"/>
          </a:xfrm>
          <a:prstGeom prst="rect">
            <a:avLst/>
          </a:prstGeom>
        </p:spPr>
        <p:txBody>
          <a:bodyPr anchor="t" rtlCol="false" tIns="0" lIns="0" bIns="0" rIns="0">
            <a:spAutoFit/>
          </a:bodyPr>
          <a:lstStyle/>
          <a:p>
            <a:pPr algn="ctr">
              <a:lnSpc>
                <a:spcPts val="3478"/>
              </a:lnSpc>
              <a:spcBef>
                <a:spcPct val="0"/>
              </a:spcBef>
            </a:pPr>
            <a:r>
              <a:rPr lang="en-US" sz="2484">
                <a:solidFill>
                  <a:srgbClr val="2A2E3A"/>
                </a:solidFill>
                <a:latin typeface="Baloo"/>
                <a:ea typeface="Baloo"/>
                <a:cs typeface="Baloo"/>
                <a:sym typeface="Baloo"/>
              </a:rPr>
              <a:t>TRƯỜNG ĐẠI HỌC TRÀ VINH</a:t>
            </a:r>
          </a:p>
          <a:p>
            <a:pPr algn="ctr">
              <a:lnSpc>
                <a:spcPts val="3478"/>
              </a:lnSpc>
              <a:spcBef>
                <a:spcPct val="0"/>
              </a:spcBef>
            </a:pPr>
            <a:r>
              <a:rPr lang="en-US" sz="2484">
                <a:solidFill>
                  <a:srgbClr val="2A2E3A"/>
                </a:solidFill>
                <a:latin typeface="Baloo"/>
                <a:ea typeface="Baloo"/>
                <a:cs typeface="Baloo"/>
                <a:sym typeface="Baloo"/>
              </a:rPr>
              <a:t>TRƯỜNG KỸ THUẬT VÀ CÔNG NGHỆ</a:t>
            </a:r>
          </a:p>
        </p:txBody>
      </p:sp>
      <p:grpSp>
        <p:nvGrpSpPr>
          <p:cNvPr name="Group 13" id="13"/>
          <p:cNvGrpSpPr/>
          <p:nvPr/>
        </p:nvGrpSpPr>
        <p:grpSpPr>
          <a:xfrm rot="0">
            <a:off x="1069435" y="4015101"/>
            <a:ext cx="8820899" cy="2613090"/>
            <a:chOff x="0" y="0"/>
            <a:chExt cx="11761199" cy="3484120"/>
          </a:xfrm>
        </p:grpSpPr>
        <p:sp>
          <p:nvSpPr>
            <p:cNvPr name="TextBox 14" id="14"/>
            <p:cNvSpPr txBox="true"/>
            <p:nvPr/>
          </p:nvSpPr>
          <p:spPr>
            <a:xfrm rot="0">
              <a:off x="0" y="1824201"/>
              <a:ext cx="11761199" cy="1659919"/>
            </a:xfrm>
            <a:prstGeom prst="rect">
              <a:avLst/>
            </a:prstGeom>
          </p:spPr>
          <p:txBody>
            <a:bodyPr anchor="t" rtlCol="false" tIns="0" lIns="0" bIns="0" rIns="0">
              <a:spAutoFit/>
            </a:bodyPr>
            <a:lstStyle/>
            <a:p>
              <a:pPr algn="ctr">
                <a:lnSpc>
                  <a:spcPts val="5012"/>
                </a:lnSpc>
              </a:pPr>
            </a:p>
            <a:p>
              <a:pPr algn="ctr">
                <a:lnSpc>
                  <a:spcPts val="5012"/>
                </a:lnSpc>
              </a:pPr>
            </a:p>
          </p:txBody>
        </p:sp>
        <p:sp>
          <p:nvSpPr>
            <p:cNvPr name="TextBox 15" id="15"/>
            <p:cNvSpPr txBox="true"/>
            <p:nvPr/>
          </p:nvSpPr>
          <p:spPr>
            <a:xfrm rot="0">
              <a:off x="0" y="9525"/>
              <a:ext cx="11761199" cy="1590675"/>
            </a:xfrm>
            <a:prstGeom prst="rect">
              <a:avLst/>
            </a:prstGeom>
          </p:spPr>
          <p:txBody>
            <a:bodyPr anchor="t" rtlCol="false" tIns="0" lIns="0" bIns="0" rIns="0">
              <a:spAutoFit/>
            </a:bodyPr>
            <a:lstStyle/>
            <a:p>
              <a:pPr algn="ctr">
                <a:lnSpc>
                  <a:spcPts val="4799"/>
                </a:lnSpc>
              </a:pPr>
              <a:r>
                <a:rPr lang="en-US" sz="3999">
                  <a:solidFill>
                    <a:srgbClr val="F8C719"/>
                  </a:solidFill>
                  <a:latin typeface="Paytone One"/>
                  <a:ea typeface="Paytone One"/>
                  <a:cs typeface="Paytone One"/>
                  <a:sym typeface="Paytone One"/>
                </a:rPr>
                <a:t>XÂY DỰNG HỆ THỐNG HỖ TRỢ HỌC TẬP THÔNG MINH</a:t>
              </a:r>
            </a:p>
          </p:txBody>
        </p:sp>
      </p:grpSp>
      <p:sp>
        <p:nvSpPr>
          <p:cNvPr name="TextBox 16" id="16"/>
          <p:cNvSpPr txBox="true"/>
          <p:nvPr/>
        </p:nvSpPr>
        <p:spPr>
          <a:xfrm rot="0">
            <a:off x="0" y="1667337"/>
            <a:ext cx="11930124" cy="2758441"/>
          </a:xfrm>
          <a:prstGeom prst="rect">
            <a:avLst/>
          </a:prstGeom>
        </p:spPr>
        <p:txBody>
          <a:bodyPr anchor="t" rtlCol="false" tIns="0" lIns="0" bIns="0" rIns="0">
            <a:spAutoFit/>
          </a:bodyPr>
          <a:lstStyle/>
          <a:p>
            <a:pPr algn="ctr">
              <a:lnSpc>
                <a:spcPts val="5459"/>
              </a:lnSpc>
            </a:pPr>
          </a:p>
          <a:p>
            <a:pPr algn="ctr">
              <a:lnSpc>
                <a:spcPts val="5459"/>
              </a:lnSpc>
            </a:pPr>
            <a:r>
              <a:rPr lang="en-US" sz="3899" b="true">
                <a:solidFill>
                  <a:srgbClr val="000000"/>
                </a:solidFill>
                <a:latin typeface="Poppins Bold"/>
                <a:ea typeface="Poppins Bold"/>
                <a:cs typeface="Poppins Bold"/>
                <a:sym typeface="Poppins Bold"/>
              </a:rPr>
              <a:t>BÁO CÁO KẾT THÚC MÔN HỌC</a:t>
            </a:r>
          </a:p>
          <a:p>
            <a:pPr algn="ctr">
              <a:lnSpc>
                <a:spcPts val="5459"/>
              </a:lnSpc>
            </a:pPr>
            <a:r>
              <a:rPr lang="en-US" sz="3899" b="true">
                <a:solidFill>
                  <a:srgbClr val="000000"/>
                </a:solidFill>
                <a:latin typeface="Poppins Bold"/>
                <a:ea typeface="Poppins Bold"/>
                <a:cs typeface="Poppins Bold"/>
                <a:sym typeface="Poppins Bold"/>
              </a:rPr>
              <a:t>PHÁT TRIỂN ỨNG DỤNG WEB VỚI MÃ NGUỒN MỞ</a:t>
            </a:r>
          </a:p>
          <a:p>
            <a:pPr algn="ctr">
              <a:lnSpc>
                <a:spcPts val="5459"/>
              </a:lnSpc>
              <a:spcBef>
                <a:spcPct val="0"/>
              </a:spcBef>
            </a:pPr>
          </a:p>
        </p:txBody>
      </p:sp>
      <p:sp>
        <p:nvSpPr>
          <p:cNvPr name="TextBox 17" id="17"/>
          <p:cNvSpPr txBox="true"/>
          <p:nvPr/>
        </p:nvSpPr>
        <p:spPr>
          <a:xfrm rot="0">
            <a:off x="2653182" y="6085266"/>
            <a:ext cx="5653406"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Poppins Bold"/>
                <a:ea typeface="Poppins Bold"/>
                <a:cs typeface="Poppins Bold"/>
                <a:sym typeface="Poppins Bold"/>
              </a:rPr>
              <a:t>GVHD: Ths Phạm Thị Trúc Mai</a:t>
            </a:r>
          </a:p>
        </p:txBody>
      </p:sp>
      <p:sp>
        <p:nvSpPr>
          <p:cNvPr name="TextBox 18" id="18"/>
          <p:cNvSpPr txBox="true"/>
          <p:nvPr/>
        </p:nvSpPr>
        <p:spPr>
          <a:xfrm rot="0">
            <a:off x="2653182" y="6715082"/>
            <a:ext cx="3815080" cy="2143125"/>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Poppins"/>
                <a:ea typeface="Poppins"/>
                <a:cs typeface="Poppins"/>
                <a:sym typeface="Poppins"/>
              </a:rPr>
              <a:t>Sinh viên Thực hiện</a:t>
            </a:r>
            <a:r>
              <a:rPr lang="en-US" sz="3000">
                <a:solidFill>
                  <a:srgbClr val="000000"/>
                </a:solidFill>
                <a:latin typeface="Poppins"/>
                <a:ea typeface="Poppins"/>
                <a:cs typeface="Poppins"/>
                <a:sym typeface="Poppins"/>
              </a:rPr>
              <a:t>: </a:t>
            </a:r>
          </a:p>
          <a:p>
            <a:pPr algn="just">
              <a:lnSpc>
                <a:spcPts val="4200"/>
              </a:lnSpc>
              <a:spcBef>
                <a:spcPct val="0"/>
              </a:spcBef>
            </a:pPr>
            <a:r>
              <a:rPr lang="en-US" sz="3000">
                <a:solidFill>
                  <a:srgbClr val="000000"/>
                </a:solidFill>
                <a:latin typeface="Poppins"/>
                <a:ea typeface="Poppins"/>
                <a:cs typeface="Poppins"/>
                <a:sym typeface="Poppins"/>
              </a:rPr>
              <a:t>Nguyễn Lê Duy</a:t>
            </a:r>
          </a:p>
          <a:p>
            <a:pPr algn="just">
              <a:lnSpc>
                <a:spcPts val="4200"/>
              </a:lnSpc>
              <a:spcBef>
                <a:spcPct val="0"/>
              </a:spcBef>
            </a:pPr>
            <a:r>
              <a:rPr lang="en-US" sz="3000">
                <a:solidFill>
                  <a:srgbClr val="000000"/>
                </a:solidFill>
                <a:latin typeface="Poppins"/>
                <a:ea typeface="Poppins"/>
                <a:cs typeface="Poppins"/>
                <a:sym typeface="Poppins"/>
              </a:rPr>
              <a:t>Phạm Trung Hiếu</a:t>
            </a:r>
          </a:p>
          <a:p>
            <a:pPr algn="just">
              <a:lnSpc>
                <a:spcPts val="4200"/>
              </a:lnSpc>
              <a:spcBef>
                <a:spcPct val="0"/>
              </a:spcBef>
            </a:pPr>
            <a:r>
              <a:rPr lang="en-US" sz="3000">
                <a:solidFill>
                  <a:srgbClr val="000000"/>
                </a:solidFill>
                <a:latin typeface="Poppins"/>
                <a:ea typeface="Poppins"/>
                <a:cs typeface="Poppins"/>
                <a:sym typeface="Poppins"/>
              </a:rPr>
              <a:t>Huỳnh Quốc Kiệt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898428" y="3187373"/>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649153" y="3131198"/>
            <a:ext cx="6204492" cy="605062"/>
          </a:xfrm>
          <a:prstGeom prst="rect">
            <a:avLst/>
          </a:prstGeom>
        </p:spPr>
        <p:txBody>
          <a:bodyPr anchor="t" rtlCol="false" tIns="0" lIns="0" bIns="0" rIns="0">
            <a:spAutoFit/>
          </a:bodyPr>
          <a:lstStyle/>
          <a:p>
            <a:pPr algn="l">
              <a:lnSpc>
                <a:spcPts val="4975"/>
              </a:lnSpc>
              <a:spcBef>
                <a:spcPct val="0"/>
              </a:spcBef>
            </a:pPr>
            <a:r>
              <a:rPr lang="en-US" b="true" sz="3553" spc="-71">
                <a:solidFill>
                  <a:srgbClr val="051D40"/>
                </a:solidFill>
                <a:latin typeface="TT Norms Bold"/>
                <a:ea typeface="TT Norms Bold"/>
                <a:cs typeface="TT Norms Bold"/>
                <a:sym typeface="TT Norms Bold"/>
              </a:rPr>
              <a:t>PHẦN I: CƠ SỞ LÝ THUYẾT</a:t>
            </a:r>
          </a:p>
        </p:txBody>
      </p:sp>
      <p:sp>
        <p:nvSpPr>
          <p:cNvPr name="Freeform 4" id="4"/>
          <p:cNvSpPr/>
          <p:nvPr/>
        </p:nvSpPr>
        <p:spPr>
          <a:xfrm flipH="false" flipV="false" rot="5400000">
            <a:off x="3898428" y="4285758"/>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4649153" y="4224994"/>
            <a:ext cx="10884210" cy="605062"/>
          </a:xfrm>
          <a:prstGeom prst="rect">
            <a:avLst/>
          </a:prstGeom>
        </p:spPr>
        <p:txBody>
          <a:bodyPr anchor="t" rtlCol="false" tIns="0" lIns="0" bIns="0" rIns="0">
            <a:spAutoFit/>
          </a:bodyPr>
          <a:lstStyle/>
          <a:p>
            <a:pPr algn="l">
              <a:lnSpc>
                <a:spcPts val="4975"/>
              </a:lnSpc>
              <a:spcBef>
                <a:spcPct val="0"/>
              </a:spcBef>
            </a:pPr>
            <a:r>
              <a:rPr lang="en-US" b="true" sz="3553" spc="-71">
                <a:solidFill>
                  <a:srgbClr val="051D40"/>
                </a:solidFill>
                <a:latin typeface="TT Norms Bold"/>
                <a:ea typeface="TT Norms Bold"/>
                <a:cs typeface="TT Norms Bold"/>
                <a:sym typeface="TT Norms Bold"/>
              </a:rPr>
              <a:t>PHẦN II: PHÂN TÍCH THIẾT KẾ</a:t>
            </a:r>
          </a:p>
        </p:txBody>
      </p:sp>
      <p:sp>
        <p:nvSpPr>
          <p:cNvPr name="Freeform 6" id="6"/>
          <p:cNvSpPr/>
          <p:nvPr/>
        </p:nvSpPr>
        <p:spPr>
          <a:xfrm flipH="false" flipV="false" rot="5400000">
            <a:off x="3898428" y="5477979"/>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649153" y="5421803"/>
            <a:ext cx="10612458" cy="605062"/>
          </a:xfrm>
          <a:prstGeom prst="rect">
            <a:avLst/>
          </a:prstGeom>
        </p:spPr>
        <p:txBody>
          <a:bodyPr anchor="t" rtlCol="false" tIns="0" lIns="0" bIns="0" rIns="0">
            <a:spAutoFit/>
          </a:bodyPr>
          <a:lstStyle/>
          <a:p>
            <a:pPr algn="l">
              <a:lnSpc>
                <a:spcPts val="4975"/>
              </a:lnSpc>
              <a:spcBef>
                <a:spcPct val="0"/>
              </a:spcBef>
            </a:pPr>
            <a:r>
              <a:rPr lang="en-US" b="true" sz="3553" spc="-71">
                <a:solidFill>
                  <a:srgbClr val="051D40"/>
                </a:solidFill>
                <a:latin typeface="TT Norms Bold"/>
                <a:ea typeface="TT Norms Bold"/>
                <a:cs typeface="TT Norms Bold"/>
                <a:sym typeface="TT Norms Bold"/>
              </a:rPr>
              <a:t>PHẦN III: XÂY DỰNG WEBSITE</a:t>
            </a:r>
          </a:p>
        </p:txBody>
      </p:sp>
      <p:sp>
        <p:nvSpPr>
          <p:cNvPr name="Freeform 8" id="8"/>
          <p:cNvSpPr/>
          <p:nvPr/>
        </p:nvSpPr>
        <p:spPr>
          <a:xfrm flipH="false" flipV="false" rot="5400000">
            <a:off x="3898428" y="6579538"/>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4649153" y="6523363"/>
            <a:ext cx="6204492" cy="605062"/>
          </a:xfrm>
          <a:prstGeom prst="rect">
            <a:avLst/>
          </a:prstGeom>
        </p:spPr>
        <p:txBody>
          <a:bodyPr anchor="t" rtlCol="false" tIns="0" lIns="0" bIns="0" rIns="0">
            <a:spAutoFit/>
          </a:bodyPr>
          <a:lstStyle/>
          <a:p>
            <a:pPr algn="l">
              <a:lnSpc>
                <a:spcPts val="4975"/>
              </a:lnSpc>
              <a:spcBef>
                <a:spcPct val="0"/>
              </a:spcBef>
            </a:pPr>
            <a:r>
              <a:rPr lang="en-US" b="true" sz="3553" spc="-71">
                <a:solidFill>
                  <a:srgbClr val="051D40"/>
                </a:solidFill>
                <a:latin typeface="TT Norms Bold"/>
                <a:ea typeface="TT Norms Bold"/>
                <a:cs typeface="TT Norms Bold"/>
                <a:sym typeface="TT Norms Bold"/>
              </a:rPr>
              <a:t>PHẦN IV: KẾT LUẬN</a:t>
            </a:r>
          </a:p>
        </p:txBody>
      </p:sp>
      <p:sp>
        <p:nvSpPr>
          <p:cNvPr name="TextBox 10" id="10"/>
          <p:cNvSpPr txBox="true"/>
          <p:nvPr/>
        </p:nvSpPr>
        <p:spPr>
          <a:xfrm rot="0">
            <a:off x="17834617" y="9371965"/>
            <a:ext cx="124182" cy="915035"/>
          </a:xfrm>
          <a:prstGeom prst="rect">
            <a:avLst/>
          </a:prstGeom>
        </p:spPr>
        <p:txBody>
          <a:bodyPr anchor="t" rtlCol="false" tIns="0" lIns="0" bIns="0" rIns="0">
            <a:spAutoFit/>
          </a:bodyPr>
          <a:lstStyle/>
          <a:p>
            <a:pPr algn="ctr">
              <a:lnSpc>
                <a:spcPts val="3640"/>
              </a:lnSpc>
            </a:pPr>
            <a:r>
              <a:rPr lang="en-US" sz="2600" b="true">
                <a:solidFill>
                  <a:srgbClr val="051D40"/>
                </a:solidFill>
                <a:latin typeface="Poppins Bold"/>
                <a:ea typeface="Poppins Bold"/>
                <a:cs typeface="Poppins Bold"/>
                <a:sym typeface="Poppins Bold"/>
              </a:rPr>
              <a:t>1</a:t>
            </a:r>
          </a:p>
          <a:p>
            <a:pPr algn="ctr">
              <a:lnSpc>
                <a:spcPts val="3640"/>
              </a:lnSpc>
              <a:spcBef>
                <a:spcPct val="0"/>
              </a:spcBef>
            </a:pPr>
          </a:p>
        </p:txBody>
      </p:sp>
      <p:grpSp>
        <p:nvGrpSpPr>
          <p:cNvPr name="Group 11" id="11"/>
          <p:cNvGrpSpPr/>
          <p:nvPr/>
        </p:nvGrpSpPr>
        <p:grpSpPr>
          <a:xfrm rot="-10800000">
            <a:off x="-2160221" y="-2774373"/>
            <a:ext cx="22608443" cy="4317433"/>
            <a:chOff x="0" y="0"/>
            <a:chExt cx="16414556" cy="3134614"/>
          </a:xfrm>
        </p:grpSpPr>
        <p:sp>
          <p:nvSpPr>
            <p:cNvPr name="Freeform 12" id="12"/>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TextBox 13" id="13"/>
          <p:cNvSpPr txBox="true"/>
          <p:nvPr/>
        </p:nvSpPr>
        <p:spPr>
          <a:xfrm rot="0">
            <a:off x="6350172" y="55998"/>
            <a:ext cx="6760246" cy="1244690"/>
          </a:xfrm>
          <a:prstGeom prst="rect">
            <a:avLst/>
          </a:prstGeom>
        </p:spPr>
        <p:txBody>
          <a:bodyPr anchor="t" rtlCol="false" tIns="0" lIns="0" bIns="0" rIns="0">
            <a:spAutoFit/>
          </a:bodyPr>
          <a:lstStyle/>
          <a:p>
            <a:pPr algn="l">
              <a:lnSpc>
                <a:spcPts val="10248"/>
              </a:lnSpc>
              <a:spcBef>
                <a:spcPct val="0"/>
              </a:spcBef>
            </a:pPr>
            <a:r>
              <a:rPr lang="en-US" sz="7320">
                <a:solidFill>
                  <a:srgbClr val="051D40"/>
                </a:solidFill>
                <a:latin typeface="Open Sans Extra Bold"/>
                <a:ea typeface="Open Sans Extra Bold"/>
                <a:cs typeface="Open Sans Extra Bold"/>
                <a:sym typeface="Open Sans Extra Bold"/>
              </a:rPr>
              <a:t>Nội Dung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3046600" y="1854529"/>
            <a:ext cx="10011538" cy="7289852"/>
          </a:xfrm>
          <a:custGeom>
            <a:avLst/>
            <a:gdLst/>
            <a:ahLst/>
            <a:cxnLst/>
            <a:rect r="r" b="b" t="t" l="l"/>
            <a:pathLst>
              <a:path h="7289852" w="10011538">
                <a:moveTo>
                  <a:pt x="0" y="0"/>
                </a:moveTo>
                <a:lnTo>
                  <a:pt x="10011538" y="0"/>
                </a:lnTo>
                <a:lnTo>
                  <a:pt x="10011538" y="7289853"/>
                </a:lnTo>
                <a:lnTo>
                  <a:pt x="0" y="7289853"/>
                </a:lnTo>
                <a:lnTo>
                  <a:pt x="0" y="0"/>
                </a:lnTo>
                <a:close/>
              </a:path>
            </a:pathLst>
          </a:custGeom>
          <a:blipFill>
            <a:blip r:embed="rId2"/>
            <a:stretch>
              <a:fillRect l="-2708" t="-33382" r="-5867" b="-4849"/>
            </a:stretch>
          </a:blipFill>
        </p:spPr>
      </p:sp>
      <p:sp>
        <p:nvSpPr>
          <p:cNvPr name="TextBox 5" id="5"/>
          <p:cNvSpPr txBox="true"/>
          <p:nvPr/>
        </p:nvSpPr>
        <p:spPr>
          <a:xfrm rot="0">
            <a:off x="6135047" y="396568"/>
            <a:ext cx="12949311" cy="1457962"/>
          </a:xfrm>
          <a:prstGeom prst="rect">
            <a:avLst/>
          </a:prstGeom>
        </p:spPr>
        <p:txBody>
          <a:bodyPr anchor="t" rtlCol="false" tIns="0" lIns="0" bIns="0" rIns="0">
            <a:spAutoFit/>
          </a:bodyPr>
          <a:lstStyle/>
          <a:p>
            <a:pPr algn="l">
              <a:lnSpc>
                <a:spcPts val="5739"/>
              </a:lnSpc>
            </a:pPr>
            <a:r>
              <a:rPr lang="en-US" sz="4099" b="true">
                <a:solidFill>
                  <a:srgbClr val="000000"/>
                </a:solidFill>
                <a:latin typeface="Poppins Bold"/>
                <a:ea typeface="Poppins Bold"/>
                <a:cs typeface="Poppins Bold"/>
                <a:sym typeface="Poppins Bold"/>
              </a:rPr>
              <a:t>1.1.LÝ DO CHỌN ĐỀ TÀI</a:t>
            </a:r>
          </a:p>
          <a:p>
            <a:pPr algn="ctr">
              <a:lnSpc>
                <a:spcPts val="5739"/>
              </a:lnSpc>
            </a:pPr>
          </a:p>
        </p:txBody>
      </p:sp>
      <p:sp>
        <p:nvSpPr>
          <p:cNvPr name="TextBox 6" id="6"/>
          <p:cNvSpPr txBox="true"/>
          <p:nvPr/>
        </p:nvSpPr>
        <p:spPr>
          <a:xfrm rot="0">
            <a:off x="17583150" y="9517345"/>
            <a:ext cx="195858" cy="483870"/>
          </a:xfrm>
          <a:prstGeom prst="rect">
            <a:avLst/>
          </a:prstGeom>
        </p:spPr>
        <p:txBody>
          <a:bodyPr anchor="t" rtlCol="false" tIns="0" lIns="0" bIns="0" rIns="0">
            <a:spAutoFit/>
          </a:bodyPr>
          <a:lstStyle/>
          <a:p>
            <a:pPr algn="ctr">
              <a:lnSpc>
                <a:spcPts val="3779"/>
              </a:lnSpc>
              <a:spcBef>
                <a:spcPct val="0"/>
              </a:spcBef>
            </a:pPr>
            <a:r>
              <a:rPr lang="en-US" b="true" sz="2700">
                <a:solidFill>
                  <a:srgbClr val="051D40"/>
                </a:solidFill>
                <a:latin typeface="Poppins Bold"/>
                <a:ea typeface="Poppins Bold"/>
                <a:cs typeface="Poppins Bold"/>
                <a:sym typeface="Poppins Bold"/>
              </a:rPr>
              <a:t>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98517" y="1543060"/>
            <a:ext cx="17531637" cy="8721990"/>
          </a:xfrm>
          <a:custGeom>
            <a:avLst/>
            <a:gdLst/>
            <a:ahLst/>
            <a:cxnLst/>
            <a:rect r="r" b="b" t="t" l="l"/>
            <a:pathLst>
              <a:path h="8721990" w="17531637">
                <a:moveTo>
                  <a:pt x="0" y="0"/>
                </a:moveTo>
                <a:lnTo>
                  <a:pt x="17531637" y="0"/>
                </a:lnTo>
                <a:lnTo>
                  <a:pt x="17531637" y="8721989"/>
                </a:lnTo>
                <a:lnTo>
                  <a:pt x="0" y="8721989"/>
                </a:lnTo>
                <a:lnTo>
                  <a:pt x="0" y="0"/>
                </a:lnTo>
                <a:close/>
              </a:path>
            </a:pathLst>
          </a:custGeom>
          <a:blipFill>
            <a:blip r:embed="rId2"/>
            <a:stretch>
              <a:fillRect l="0" t="0" r="0" b="0"/>
            </a:stretch>
          </a:blipFill>
        </p:spPr>
      </p:sp>
      <p:sp>
        <p:nvSpPr>
          <p:cNvPr name="TextBox 5" id="5"/>
          <p:cNvSpPr txBox="true"/>
          <p:nvPr/>
        </p:nvSpPr>
        <p:spPr>
          <a:xfrm rot="0">
            <a:off x="0" y="242569"/>
            <a:ext cx="18288000" cy="1457961"/>
          </a:xfrm>
          <a:prstGeom prst="rect">
            <a:avLst/>
          </a:prstGeom>
        </p:spPr>
        <p:txBody>
          <a:bodyPr anchor="t" rtlCol="false" tIns="0" lIns="0" bIns="0" rIns="0">
            <a:spAutoFit/>
          </a:bodyPr>
          <a:lstStyle/>
          <a:p>
            <a:pPr algn="ctr">
              <a:lnSpc>
                <a:spcPts val="5739"/>
              </a:lnSpc>
            </a:pPr>
            <a:r>
              <a:rPr lang="en-US" b="true" sz="4099">
                <a:solidFill>
                  <a:srgbClr val="000000"/>
                </a:solidFill>
                <a:latin typeface="Poppins Bold"/>
                <a:ea typeface="Poppins Bold"/>
                <a:cs typeface="Poppins Bold"/>
                <a:sym typeface="Poppins Bold"/>
              </a:rPr>
              <a:t>1.2 MỤC TIÊU ĐỀ TÀI</a:t>
            </a:r>
          </a:p>
          <a:p>
            <a:pPr algn="ctr">
              <a:lnSpc>
                <a:spcPts val="5739"/>
              </a:lnSpc>
            </a:pPr>
          </a:p>
        </p:txBody>
      </p:sp>
      <p:sp>
        <p:nvSpPr>
          <p:cNvPr name="TextBox 6" id="6"/>
          <p:cNvSpPr txBox="true"/>
          <p:nvPr/>
        </p:nvSpPr>
        <p:spPr>
          <a:xfrm rot="0">
            <a:off x="17256185" y="9526870"/>
            <a:ext cx="202089"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1119292" y="3594359"/>
            <a:ext cx="6447307" cy="2010254"/>
          </a:xfrm>
          <a:custGeom>
            <a:avLst/>
            <a:gdLst/>
            <a:ahLst/>
            <a:cxnLst/>
            <a:rect r="r" b="b" t="t" l="l"/>
            <a:pathLst>
              <a:path h="2010254" w="6447307">
                <a:moveTo>
                  <a:pt x="0" y="0"/>
                </a:moveTo>
                <a:lnTo>
                  <a:pt x="6447307" y="0"/>
                </a:lnTo>
                <a:lnTo>
                  <a:pt x="6447307" y="2010254"/>
                </a:lnTo>
                <a:lnTo>
                  <a:pt x="0" y="2010254"/>
                </a:lnTo>
                <a:lnTo>
                  <a:pt x="0" y="0"/>
                </a:lnTo>
                <a:close/>
              </a:path>
            </a:pathLst>
          </a:custGeom>
          <a:blipFill>
            <a:blip r:embed="rId2"/>
            <a:stretch>
              <a:fillRect l="0" t="-1114" r="0" b="-1114"/>
            </a:stretch>
          </a:blipFill>
        </p:spPr>
      </p:sp>
      <p:sp>
        <p:nvSpPr>
          <p:cNvPr name="Freeform 5" id="5"/>
          <p:cNvSpPr/>
          <p:nvPr/>
        </p:nvSpPr>
        <p:spPr>
          <a:xfrm flipH="false" flipV="false" rot="0">
            <a:off x="305037" y="2454618"/>
            <a:ext cx="10552004" cy="5769759"/>
          </a:xfrm>
          <a:custGeom>
            <a:avLst/>
            <a:gdLst/>
            <a:ahLst/>
            <a:cxnLst/>
            <a:rect r="r" b="b" t="t" l="l"/>
            <a:pathLst>
              <a:path h="5769759" w="10552004">
                <a:moveTo>
                  <a:pt x="0" y="0"/>
                </a:moveTo>
                <a:lnTo>
                  <a:pt x="10552004" y="0"/>
                </a:lnTo>
                <a:lnTo>
                  <a:pt x="10552004" y="5769759"/>
                </a:lnTo>
                <a:lnTo>
                  <a:pt x="0" y="5769759"/>
                </a:lnTo>
                <a:lnTo>
                  <a:pt x="0" y="0"/>
                </a:lnTo>
                <a:close/>
              </a:path>
            </a:pathLst>
          </a:custGeom>
          <a:blipFill>
            <a:blip r:embed="rId3"/>
            <a:stretch>
              <a:fillRect l="0" t="0" r="-663" b="0"/>
            </a:stretch>
          </a:blipFill>
        </p:spPr>
      </p:sp>
      <p:sp>
        <p:nvSpPr>
          <p:cNvPr name="TextBox 6" id="6"/>
          <p:cNvSpPr txBox="true"/>
          <p:nvPr/>
        </p:nvSpPr>
        <p:spPr>
          <a:xfrm rot="0">
            <a:off x="0" y="242569"/>
            <a:ext cx="18288000" cy="1457962"/>
          </a:xfrm>
          <a:prstGeom prst="rect">
            <a:avLst/>
          </a:prstGeom>
        </p:spPr>
        <p:txBody>
          <a:bodyPr anchor="t" rtlCol="false" tIns="0" lIns="0" bIns="0" rIns="0">
            <a:spAutoFit/>
          </a:bodyPr>
          <a:lstStyle/>
          <a:p>
            <a:pPr algn="ctr">
              <a:lnSpc>
                <a:spcPts val="5739"/>
              </a:lnSpc>
            </a:pPr>
            <a:r>
              <a:rPr lang="en-US" b="true" sz="4099">
                <a:solidFill>
                  <a:srgbClr val="000000"/>
                </a:solidFill>
                <a:latin typeface="Poppins Bold"/>
                <a:ea typeface="Poppins Bold"/>
                <a:cs typeface="Poppins Bold"/>
                <a:sym typeface="Poppins Bold"/>
              </a:rPr>
              <a:t>1.3. Công nghệ và ngôn ngữ </a:t>
            </a:r>
          </a:p>
          <a:p>
            <a:pPr algn="ctr">
              <a:lnSpc>
                <a:spcPts val="5739"/>
              </a:lnSpc>
            </a:pPr>
          </a:p>
        </p:txBody>
      </p:sp>
      <p:sp>
        <p:nvSpPr>
          <p:cNvPr name="TextBox 7" id="7"/>
          <p:cNvSpPr txBox="true"/>
          <p:nvPr/>
        </p:nvSpPr>
        <p:spPr>
          <a:xfrm rot="0">
            <a:off x="17249358" y="9526870"/>
            <a:ext cx="215741"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7250" y="1076325"/>
            <a:ext cx="6457950" cy="416719"/>
          </a:xfrm>
          <a:prstGeom prst="rect">
            <a:avLst/>
          </a:prstGeom>
        </p:spPr>
        <p:txBody>
          <a:bodyPr anchor="t" rtlCol="false" tIns="0" lIns="0" bIns="0" rIns="0">
            <a:spAutoFit/>
          </a:bodyPr>
          <a:lstStyle/>
          <a:p>
            <a:pPr algn="l">
              <a:lnSpc>
                <a:spcPts val="2400"/>
              </a:lnSpc>
            </a:pPr>
            <a:r>
              <a:rPr lang="en-US" b="true" sz="1770" spc="4">
                <a:solidFill>
                  <a:srgbClr val="0055FF"/>
                </a:solidFill>
                <a:latin typeface="Calibri (MS) Bold"/>
                <a:ea typeface="Calibri (MS) Bold"/>
                <a:cs typeface="Calibri (MS) Bold"/>
                <a:sym typeface="Calibri (MS) Bold"/>
              </a:rPr>
              <a:t>Chương 1: Cơ sở lý thuyết</a:t>
            </a:r>
          </a:p>
        </p:txBody>
      </p:sp>
      <p:sp>
        <p:nvSpPr>
          <p:cNvPr name="TextBox 4" id="4"/>
          <p:cNvSpPr txBox="true"/>
          <p:nvPr/>
        </p:nvSpPr>
        <p:spPr>
          <a:xfrm rot="0">
            <a:off x="1028700" y="2412883"/>
            <a:ext cx="6457950" cy="2164032"/>
          </a:xfrm>
          <a:prstGeom prst="rect">
            <a:avLst/>
          </a:prstGeom>
        </p:spPr>
        <p:txBody>
          <a:bodyPr anchor="t" rtlCol="false" tIns="0" lIns="0" bIns="0" rIns="0">
            <a:spAutoFit/>
          </a:bodyPr>
          <a:lstStyle/>
          <a:p>
            <a:pPr algn="l">
              <a:lnSpc>
                <a:spcPts val="8000"/>
              </a:lnSpc>
            </a:pPr>
            <a:r>
              <a:rPr lang="en-US" b="true" sz="6588">
                <a:solidFill>
                  <a:srgbClr val="1A1A1A"/>
                </a:solidFill>
                <a:latin typeface="Calibri (MS) Bold"/>
                <a:ea typeface="Calibri (MS) Bold"/>
                <a:cs typeface="Calibri (MS) Bold"/>
                <a:sym typeface="Calibri (MS) Bold"/>
              </a:rPr>
              <a:t>GIỚI THIỆU</a:t>
            </a:r>
          </a:p>
          <a:p>
            <a:pPr algn="l">
              <a:lnSpc>
                <a:spcPts val="8000"/>
              </a:lnSpc>
            </a:pPr>
            <a:r>
              <a:rPr lang="en-US" b="true" sz="6588">
                <a:solidFill>
                  <a:srgbClr val="1A1A1A"/>
                </a:solidFill>
                <a:latin typeface="Calibri (MS) Bold"/>
                <a:ea typeface="Calibri (MS) Bold"/>
                <a:cs typeface="Calibri (MS) Bold"/>
                <a:sym typeface="Calibri (MS) Bold"/>
              </a:rPr>
              <a:t>LARAVEL</a:t>
            </a:r>
          </a:p>
        </p:txBody>
      </p:sp>
      <p:sp>
        <p:nvSpPr>
          <p:cNvPr name="TextBox 5" id="5"/>
          <p:cNvSpPr txBox="true"/>
          <p:nvPr/>
        </p:nvSpPr>
        <p:spPr>
          <a:xfrm rot="0">
            <a:off x="8458200" y="2096691"/>
            <a:ext cx="8431654" cy="1656791"/>
          </a:xfrm>
          <a:prstGeom prst="rect">
            <a:avLst/>
          </a:prstGeom>
        </p:spPr>
        <p:txBody>
          <a:bodyPr anchor="t" rtlCol="false" tIns="0" lIns="0" bIns="0" rIns="0">
            <a:spAutoFit/>
          </a:bodyPr>
          <a:lstStyle/>
          <a:p>
            <a:pPr algn="l">
              <a:lnSpc>
                <a:spcPts val="4399"/>
              </a:lnSpc>
            </a:pPr>
            <a:r>
              <a:rPr lang="en-US" sz="2537">
                <a:solidFill>
                  <a:srgbClr val="333333"/>
                </a:solidFill>
                <a:latin typeface="Calibri (MS)"/>
                <a:ea typeface="Calibri (MS)"/>
                <a:cs typeface="Calibri (MS)"/>
                <a:sym typeface="Calibri (MS)"/>
              </a:rPr>
              <a:t>Laravel là một framework PHP mã nguồn mở, được thiết kế theo kiến trúc MVC nhằm hỗ trợ phát triển các ứng dụng web hiện đại một cách nhanh chóng và hiệu quả.</a:t>
            </a:r>
          </a:p>
        </p:txBody>
      </p:sp>
      <p:sp>
        <p:nvSpPr>
          <p:cNvPr name="TextBox 6" id="6"/>
          <p:cNvSpPr txBox="true"/>
          <p:nvPr/>
        </p:nvSpPr>
        <p:spPr>
          <a:xfrm rot="0">
            <a:off x="8458200" y="4094712"/>
            <a:ext cx="4129088" cy="367903"/>
          </a:xfrm>
          <a:prstGeom prst="rect">
            <a:avLst/>
          </a:prstGeom>
        </p:spPr>
        <p:txBody>
          <a:bodyPr anchor="t" rtlCol="false" tIns="0" lIns="0" bIns="0" rIns="0">
            <a:spAutoFit/>
          </a:bodyPr>
          <a:lstStyle/>
          <a:p>
            <a:pPr algn="l">
              <a:lnSpc>
                <a:spcPts val="2200"/>
              </a:lnSpc>
            </a:pPr>
            <a:r>
              <a:rPr lang="en-US" sz="1568" b="true">
                <a:solidFill>
                  <a:srgbClr val="0055FF"/>
                </a:solidFill>
                <a:latin typeface="Calibri (MS) Bold"/>
                <a:ea typeface="Calibri (MS) Bold"/>
                <a:cs typeface="Calibri (MS) Bold"/>
                <a:sym typeface="Calibri (MS) Bold"/>
              </a:rPr>
              <a:t>Người sáng lập</a:t>
            </a:r>
          </a:p>
        </p:txBody>
      </p:sp>
      <p:sp>
        <p:nvSpPr>
          <p:cNvPr name="TextBox 7" id="7"/>
          <p:cNvSpPr txBox="true"/>
          <p:nvPr/>
        </p:nvSpPr>
        <p:spPr>
          <a:xfrm rot="0">
            <a:off x="8458200" y="4519765"/>
            <a:ext cx="4129088" cy="407194"/>
          </a:xfrm>
          <a:prstGeom prst="rect">
            <a:avLst/>
          </a:prstGeom>
        </p:spPr>
        <p:txBody>
          <a:bodyPr anchor="t" rtlCol="false" tIns="0" lIns="0" bIns="0" rIns="0">
            <a:spAutoFit/>
          </a:bodyPr>
          <a:lstStyle/>
          <a:p>
            <a:pPr algn="l">
              <a:lnSpc>
                <a:spcPts val="2400"/>
              </a:lnSpc>
            </a:pPr>
            <a:r>
              <a:rPr lang="en-US" sz="1883">
                <a:solidFill>
                  <a:srgbClr val="333333"/>
                </a:solidFill>
                <a:latin typeface="Calibri (MS)"/>
                <a:ea typeface="Calibri (MS)"/>
                <a:cs typeface="Calibri (MS)"/>
                <a:sym typeface="Calibri (MS)"/>
              </a:rPr>
              <a:t>Taylor Otwell (2011)</a:t>
            </a:r>
          </a:p>
        </p:txBody>
      </p:sp>
      <p:sp>
        <p:nvSpPr>
          <p:cNvPr name="TextBox 8" id="8"/>
          <p:cNvSpPr txBox="true"/>
          <p:nvPr/>
        </p:nvSpPr>
        <p:spPr>
          <a:xfrm rot="0">
            <a:off x="13015912" y="4094712"/>
            <a:ext cx="4129088" cy="367903"/>
          </a:xfrm>
          <a:prstGeom prst="rect">
            <a:avLst/>
          </a:prstGeom>
        </p:spPr>
        <p:txBody>
          <a:bodyPr anchor="t" rtlCol="false" tIns="0" lIns="0" bIns="0" rIns="0">
            <a:spAutoFit/>
          </a:bodyPr>
          <a:lstStyle/>
          <a:p>
            <a:pPr algn="l">
              <a:lnSpc>
                <a:spcPts val="2200"/>
              </a:lnSpc>
            </a:pPr>
            <a:r>
              <a:rPr lang="en-US" sz="1568" b="true">
                <a:solidFill>
                  <a:srgbClr val="0055FF"/>
                </a:solidFill>
                <a:latin typeface="Calibri (MS) Bold"/>
                <a:ea typeface="Calibri (MS) Bold"/>
                <a:cs typeface="Calibri (MS) Bold"/>
                <a:sym typeface="Calibri (MS) Bold"/>
              </a:rPr>
              <a:t>Ngôn ngữ</a:t>
            </a:r>
          </a:p>
        </p:txBody>
      </p:sp>
      <p:sp>
        <p:nvSpPr>
          <p:cNvPr name="TextBox 9" id="9"/>
          <p:cNvSpPr txBox="true"/>
          <p:nvPr/>
        </p:nvSpPr>
        <p:spPr>
          <a:xfrm rot="0">
            <a:off x="13015912" y="4519765"/>
            <a:ext cx="4129088" cy="407194"/>
          </a:xfrm>
          <a:prstGeom prst="rect">
            <a:avLst/>
          </a:prstGeom>
        </p:spPr>
        <p:txBody>
          <a:bodyPr anchor="t" rtlCol="false" tIns="0" lIns="0" bIns="0" rIns="0">
            <a:spAutoFit/>
          </a:bodyPr>
          <a:lstStyle/>
          <a:p>
            <a:pPr algn="l">
              <a:lnSpc>
                <a:spcPts val="2400"/>
              </a:lnSpc>
            </a:pPr>
            <a:r>
              <a:rPr lang="en-US" sz="1883">
                <a:solidFill>
                  <a:srgbClr val="333333"/>
                </a:solidFill>
                <a:latin typeface="Calibri (MS)"/>
                <a:ea typeface="Calibri (MS)"/>
                <a:cs typeface="Calibri (MS)"/>
                <a:sym typeface="Calibri (MS)"/>
              </a:rPr>
              <a:t>PHP (Mã nguồn mở)</a:t>
            </a:r>
          </a:p>
        </p:txBody>
      </p:sp>
      <p:sp>
        <p:nvSpPr>
          <p:cNvPr name="TextBox 10" id="10"/>
          <p:cNvSpPr txBox="true"/>
          <p:nvPr/>
        </p:nvSpPr>
        <p:spPr>
          <a:xfrm rot="0">
            <a:off x="8458200" y="5541321"/>
            <a:ext cx="4129088" cy="367903"/>
          </a:xfrm>
          <a:prstGeom prst="rect">
            <a:avLst/>
          </a:prstGeom>
        </p:spPr>
        <p:txBody>
          <a:bodyPr anchor="t" rtlCol="false" tIns="0" lIns="0" bIns="0" rIns="0">
            <a:spAutoFit/>
          </a:bodyPr>
          <a:lstStyle/>
          <a:p>
            <a:pPr algn="l">
              <a:lnSpc>
                <a:spcPts val="2200"/>
              </a:lnSpc>
            </a:pPr>
            <a:r>
              <a:rPr lang="en-US" sz="1568" b="true">
                <a:solidFill>
                  <a:srgbClr val="0055FF"/>
                </a:solidFill>
                <a:latin typeface="Calibri (MS) Bold"/>
                <a:ea typeface="Calibri (MS) Bold"/>
                <a:cs typeface="Calibri (MS) Bold"/>
                <a:sym typeface="Calibri (MS) Bold"/>
              </a:rPr>
              <a:t>Triết lý</a:t>
            </a:r>
          </a:p>
        </p:txBody>
      </p:sp>
      <p:sp>
        <p:nvSpPr>
          <p:cNvPr name="TextBox 11" id="11"/>
          <p:cNvSpPr txBox="true"/>
          <p:nvPr/>
        </p:nvSpPr>
        <p:spPr>
          <a:xfrm rot="0">
            <a:off x="8458200" y="5966374"/>
            <a:ext cx="4129088" cy="757238"/>
          </a:xfrm>
          <a:prstGeom prst="rect">
            <a:avLst/>
          </a:prstGeom>
        </p:spPr>
        <p:txBody>
          <a:bodyPr anchor="t" rtlCol="false" tIns="0" lIns="0" bIns="0" rIns="0">
            <a:spAutoFit/>
          </a:bodyPr>
          <a:lstStyle/>
          <a:p>
            <a:pPr algn="l">
              <a:lnSpc>
                <a:spcPts val="2400"/>
              </a:lnSpc>
            </a:pPr>
            <a:r>
              <a:rPr lang="en-US" sz="1883">
                <a:solidFill>
                  <a:srgbClr val="333333"/>
                </a:solidFill>
                <a:latin typeface="Calibri (MS)"/>
                <a:ea typeface="Calibri (MS)"/>
                <a:cs typeface="Calibri (MS)"/>
                <a:sym typeface="Calibri (MS)"/>
              </a:rPr>
              <a:t>"The PHP Framework for Web Artisans"</a:t>
            </a:r>
          </a:p>
        </p:txBody>
      </p:sp>
      <p:sp>
        <p:nvSpPr>
          <p:cNvPr name="TextBox 12" id="12"/>
          <p:cNvSpPr txBox="true"/>
          <p:nvPr/>
        </p:nvSpPr>
        <p:spPr>
          <a:xfrm rot="0">
            <a:off x="13015912" y="5541321"/>
            <a:ext cx="4129088" cy="367903"/>
          </a:xfrm>
          <a:prstGeom prst="rect">
            <a:avLst/>
          </a:prstGeom>
        </p:spPr>
        <p:txBody>
          <a:bodyPr anchor="t" rtlCol="false" tIns="0" lIns="0" bIns="0" rIns="0">
            <a:spAutoFit/>
          </a:bodyPr>
          <a:lstStyle/>
          <a:p>
            <a:pPr algn="l">
              <a:lnSpc>
                <a:spcPts val="2200"/>
              </a:lnSpc>
            </a:pPr>
            <a:r>
              <a:rPr lang="en-US" sz="1568" b="true">
                <a:solidFill>
                  <a:srgbClr val="0055FF"/>
                </a:solidFill>
                <a:latin typeface="Calibri (MS) Bold"/>
                <a:ea typeface="Calibri (MS) Bold"/>
                <a:cs typeface="Calibri (MS) Bold"/>
                <a:sym typeface="Calibri (MS) Bold"/>
              </a:rPr>
              <a:t>Cộng đồng</a:t>
            </a:r>
          </a:p>
        </p:txBody>
      </p:sp>
      <p:sp>
        <p:nvSpPr>
          <p:cNvPr name="TextBox 13" id="13"/>
          <p:cNvSpPr txBox="true"/>
          <p:nvPr/>
        </p:nvSpPr>
        <p:spPr>
          <a:xfrm rot="0">
            <a:off x="13015912" y="5966374"/>
            <a:ext cx="4129088" cy="407194"/>
          </a:xfrm>
          <a:prstGeom prst="rect">
            <a:avLst/>
          </a:prstGeom>
        </p:spPr>
        <p:txBody>
          <a:bodyPr anchor="t" rtlCol="false" tIns="0" lIns="0" bIns="0" rIns="0">
            <a:spAutoFit/>
          </a:bodyPr>
          <a:lstStyle/>
          <a:p>
            <a:pPr algn="l">
              <a:lnSpc>
                <a:spcPts val="2400"/>
              </a:lnSpc>
            </a:pPr>
            <a:r>
              <a:rPr lang="en-US" sz="1883">
                <a:solidFill>
                  <a:srgbClr val="333333"/>
                </a:solidFill>
                <a:latin typeface="Calibri (MS)"/>
                <a:ea typeface="Calibri (MS)"/>
                <a:cs typeface="Calibri (MS)"/>
                <a:sym typeface="Calibri (MS)"/>
              </a:rPr>
              <a:t>Hệ sinh thái lớn nhất thế giới</a:t>
            </a:r>
          </a:p>
        </p:txBody>
      </p:sp>
      <p:sp>
        <p:nvSpPr>
          <p:cNvPr name="TextBox 14" id="14"/>
          <p:cNvSpPr txBox="true"/>
          <p:nvPr/>
        </p:nvSpPr>
        <p:spPr>
          <a:xfrm rot="0">
            <a:off x="9601200" y="7689799"/>
            <a:ext cx="3269942" cy="553641"/>
          </a:xfrm>
          <a:prstGeom prst="rect">
            <a:avLst/>
          </a:prstGeom>
        </p:spPr>
        <p:txBody>
          <a:bodyPr anchor="t" rtlCol="false" tIns="0" lIns="0" bIns="0" rIns="0">
            <a:spAutoFit/>
          </a:bodyPr>
          <a:lstStyle/>
          <a:p>
            <a:pPr algn="l">
              <a:lnSpc>
                <a:spcPts val="3199"/>
              </a:lnSpc>
            </a:pPr>
            <a:r>
              <a:rPr lang="en-US" sz="2386" b="true">
                <a:solidFill>
                  <a:srgbClr val="1A1A1A"/>
                </a:solidFill>
                <a:latin typeface="Calibri (MS) Bold"/>
                <a:ea typeface="Calibri (MS) Bold"/>
                <a:cs typeface="Calibri (MS) Bold"/>
                <a:sym typeface="Calibri (MS) Bold"/>
              </a:rPr>
              <a:t>Laravel Ecosystem</a:t>
            </a:r>
          </a:p>
        </p:txBody>
      </p:sp>
      <p:grpSp>
        <p:nvGrpSpPr>
          <p:cNvPr name="Group 15" id="15"/>
          <p:cNvGrpSpPr/>
          <p:nvPr/>
        </p:nvGrpSpPr>
        <p:grpSpPr>
          <a:xfrm rot="-10800000">
            <a:off x="-2160221" y="-2774373"/>
            <a:ext cx="22608443" cy="4317433"/>
            <a:chOff x="0" y="0"/>
            <a:chExt cx="16414556" cy="3134614"/>
          </a:xfrm>
        </p:grpSpPr>
        <p:sp>
          <p:nvSpPr>
            <p:cNvPr name="Freeform 16" id="16"/>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TextBox 17" id="17"/>
          <p:cNvSpPr txBox="true"/>
          <p:nvPr/>
        </p:nvSpPr>
        <p:spPr>
          <a:xfrm rot="0">
            <a:off x="0" y="242569"/>
            <a:ext cx="18288000" cy="1457962"/>
          </a:xfrm>
          <a:prstGeom prst="rect">
            <a:avLst/>
          </a:prstGeom>
        </p:spPr>
        <p:txBody>
          <a:bodyPr anchor="t" rtlCol="false" tIns="0" lIns="0" bIns="0" rIns="0">
            <a:spAutoFit/>
          </a:bodyPr>
          <a:lstStyle/>
          <a:p>
            <a:pPr algn="ctr">
              <a:lnSpc>
                <a:spcPts val="5739"/>
              </a:lnSpc>
            </a:pPr>
            <a:r>
              <a:rPr lang="en-US" b="true" sz="4099">
                <a:solidFill>
                  <a:srgbClr val="000000"/>
                </a:solidFill>
                <a:latin typeface="Poppins Bold"/>
                <a:ea typeface="Poppins Bold"/>
                <a:cs typeface="Poppins Bold"/>
                <a:sym typeface="Poppins Bold"/>
              </a:rPr>
              <a:t>1.3. Công nghệ và ngôn ngữ </a:t>
            </a:r>
          </a:p>
          <a:p>
            <a:pPr algn="ctr">
              <a:lnSpc>
                <a:spcPts val="5739"/>
              </a:lnSpc>
            </a:pPr>
          </a:p>
        </p:txBody>
      </p:sp>
      <p:sp>
        <p:nvSpPr>
          <p:cNvPr name="TextBox 18" id="18"/>
          <p:cNvSpPr txBox="true"/>
          <p:nvPr/>
        </p:nvSpPr>
        <p:spPr>
          <a:xfrm rot="0">
            <a:off x="17249517" y="9526870"/>
            <a:ext cx="215424"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935977" y="1923354"/>
            <a:ext cx="16549396" cy="8150578"/>
          </a:xfrm>
          <a:custGeom>
            <a:avLst/>
            <a:gdLst/>
            <a:ahLst/>
            <a:cxnLst/>
            <a:rect r="r" b="b" t="t" l="l"/>
            <a:pathLst>
              <a:path h="8150578" w="16549396">
                <a:moveTo>
                  <a:pt x="0" y="0"/>
                </a:moveTo>
                <a:lnTo>
                  <a:pt x="16549396" y="0"/>
                </a:lnTo>
                <a:lnTo>
                  <a:pt x="16549396" y="8150577"/>
                </a:lnTo>
                <a:lnTo>
                  <a:pt x="0" y="8150577"/>
                </a:lnTo>
                <a:lnTo>
                  <a:pt x="0" y="0"/>
                </a:lnTo>
                <a:close/>
              </a:path>
            </a:pathLst>
          </a:custGeom>
          <a:blipFill>
            <a:blip r:embed="rId2"/>
            <a:stretch>
              <a:fillRect l="0" t="0" r="0" b="0"/>
            </a:stretch>
          </a:blipFill>
        </p:spPr>
      </p:sp>
      <p:sp>
        <p:nvSpPr>
          <p:cNvPr name="TextBox 5" id="5"/>
          <p:cNvSpPr txBox="true"/>
          <p:nvPr/>
        </p:nvSpPr>
        <p:spPr>
          <a:xfrm rot="0">
            <a:off x="0" y="242569"/>
            <a:ext cx="18288000" cy="1457962"/>
          </a:xfrm>
          <a:prstGeom prst="rect">
            <a:avLst/>
          </a:prstGeom>
        </p:spPr>
        <p:txBody>
          <a:bodyPr anchor="t" rtlCol="false" tIns="0" lIns="0" bIns="0" rIns="0">
            <a:spAutoFit/>
          </a:bodyPr>
          <a:lstStyle/>
          <a:p>
            <a:pPr algn="ctr">
              <a:lnSpc>
                <a:spcPts val="5739"/>
              </a:lnSpc>
            </a:pPr>
            <a:r>
              <a:rPr lang="en-US" b="true" sz="4099">
                <a:solidFill>
                  <a:srgbClr val="000000"/>
                </a:solidFill>
                <a:latin typeface="Poppins Bold"/>
                <a:ea typeface="Poppins Bold"/>
                <a:cs typeface="Poppins Bold"/>
                <a:sym typeface="Poppins Bold"/>
              </a:rPr>
              <a:t>1.3. Công nghệ và ngôn ngữ </a:t>
            </a:r>
          </a:p>
          <a:p>
            <a:pPr algn="ctr">
              <a:lnSpc>
                <a:spcPts val="5739"/>
              </a:lnSpc>
            </a:pPr>
          </a:p>
        </p:txBody>
      </p:sp>
      <p:sp>
        <p:nvSpPr>
          <p:cNvPr name="TextBox 6" id="6"/>
          <p:cNvSpPr txBox="true"/>
          <p:nvPr/>
        </p:nvSpPr>
        <p:spPr>
          <a:xfrm rot="0">
            <a:off x="17808320" y="9708868"/>
            <a:ext cx="217805"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637958" y="1700531"/>
            <a:ext cx="16371763" cy="9086328"/>
          </a:xfrm>
          <a:custGeom>
            <a:avLst/>
            <a:gdLst/>
            <a:ahLst/>
            <a:cxnLst/>
            <a:rect r="r" b="b" t="t" l="l"/>
            <a:pathLst>
              <a:path h="9086328" w="16371763">
                <a:moveTo>
                  <a:pt x="0" y="0"/>
                </a:moveTo>
                <a:lnTo>
                  <a:pt x="16371763" y="0"/>
                </a:lnTo>
                <a:lnTo>
                  <a:pt x="16371763" y="9086328"/>
                </a:lnTo>
                <a:lnTo>
                  <a:pt x="0" y="9086328"/>
                </a:lnTo>
                <a:lnTo>
                  <a:pt x="0" y="0"/>
                </a:lnTo>
                <a:close/>
              </a:path>
            </a:pathLst>
          </a:custGeom>
          <a:blipFill>
            <a:blip r:embed="rId2"/>
            <a:stretch>
              <a:fillRect l="0" t="0" r="0" b="0"/>
            </a:stretch>
          </a:blipFill>
        </p:spPr>
      </p:sp>
      <p:sp>
        <p:nvSpPr>
          <p:cNvPr name="TextBox 5" id="5"/>
          <p:cNvSpPr txBox="true"/>
          <p:nvPr/>
        </p:nvSpPr>
        <p:spPr>
          <a:xfrm rot="0">
            <a:off x="0" y="242569"/>
            <a:ext cx="18288000" cy="1457962"/>
          </a:xfrm>
          <a:prstGeom prst="rect">
            <a:avLst/>
          </a:prstGeom>
        </p:spPr>
        <p:txBody>
          <a:bodyPr anchor="t" rtlCol="false" tIns="0" lIns="0" bIns="0" rIns="0">
            <a:spAutoFit/>
          </a:bodyPr>
          <a:lstStyle/>
          <a:p>
            <a:pPr algn="ctr">
              <a:lnSpc>
                <a:spcPts val="5739"/>
              </a:lnSpc>
            </a:pPr>
            <a:r>
              <a:rPr lang="en-US" b="true" sz="4099">
                <a:solidFill>
                  <a:srgbClr val="000000"/>
                </a:solidFill>
                <a:latin typeface="Poppins Bold"/>
                <a:ea typeface="Poppins Bold"/>
                <a:cs typeface="Poppins Bold"/>
                <a:sym typeface="Poppins Bold"/>
              </a:rPr>
              <a:t>1.3. Công nghệ và ngôn ngữ </a:t>
            </a:r>
          </a:p>
          <a:p>
            <a:pPr algn="ctr">
              <a:lnSpc>
                <a:spcPts val="5739"/>
              </a:lnSpc>
            </a:pPr>
          </a:p>
        </p:txBody>
      </p:sp>
      <p:sp>
        <p:nvSpPr>
          <p:cNvPr name="TextBox 6" id="6"/>
          <p:cNvSpPr txBox="true"/>
          <p:nvPr/>
        </p:nvSpPr>
        <p:spPr>
          <a:xfrm rot="0">
            <a:off x="17263566" y="9526870"/>
            <a:ext cx="187325"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574198" y="1664782"/>
            <a:ext cx="15837502" cy="7423829"/>
          </a:xfrm>
          <a:custGeom>
            <a:avLst/>
            <a:gdLst/>
            <a:ahLst/>
            <a:cxnLst/>
            <a:rect r="r" b="b" t="t" l="l"/>
            <a:pathLst>
              <a:path h="7423829" w="15837502">
                <a:moveTo>
                  <a:pt x="0" y="0"/>
                </a:moveTo>
                <a:lnTo>
                  <a:pt x="15837502" y="0"/>
                </a:lnTo>
                <a:lnTo>
                  <a:pt x="15837502" y="7423829"/>
                </a:lnTo>
                <a:lnTo>
                  <a:pt x="0" y="7423829"/>
                </a:lnTo>
                <a:lnTo>
                  <a:pt x="0" y="0"/>
                </a:lnTo>
                <a:close/>
              </a:path>
            </a:pathLst>
          </a:custGeom>
          <a:blipFill>
            <a:blip r:embed="rId2"/>
            <a:stretch>
              <a:fillRect l="0" t="0" r="0" b="0"/>
            </a:stretch>
          </a:blipFill>
        </p:spPr>
      </p:sp>
      <p:sp>
        <p:nvSpPr>
          <p:cNvPr name="TextBox 5" id="5"/>
          <p:cNvSpPr txBox="true"/>
          <p:nvPr/>
        </p:nvSpPr>
        <p:spPr>
          <a:xfrm rot="0">
            <a:off x="0" y="242569"/>
            <a:ext cx="18288000" cy="2181862"/>
          </a:xfrm>
          <a:prstGeom prst="rect">
            <a:avLst/>
          </a:prstGeom>
        </p:spPr>
        <p:txBody>
          <a:bodyPr anchor="t" rtlCol="false" tIns="0" lIns="0" bIns="0" rIns="0">
            <a:spAutoFit/>
          </a:bodyPr>
          <a:lstStyle/>
          <a:p>
            <a:pPr algn="ctr">
              <a:lnSpc>
                <a:spcPts val="5739"/>
              </a:lnSpc>
            </a:pPr>
            <a:r>
              <a:rPr lang="en-US" sz="4099" b="true">
                <a:solidFill>
                  <a:srgbClr val="000000"/>
                </a:solidFill>
                <a:latin typeface="Poppins Bold"/>
                <a:ea typeface="Poppins Bold"/>
                <a:cs typeface="Poppins Bold"/>
                <a:sym typeface="Poppins Bold"/>
              </a:rPr>
              <a:t>1.4 Tổng quan về Trí tuệ nhân tạo (AI &amp; LLM)</a:t>
            </a:r>
          </a:p>
          <a:p>
            <a:pPr algn="ctr">
              <a:lnSpc>
                <a:spcPts val="5739"/>
              </a:lnSpc>
            </a:pPr>
          </a:p>
          <a:p>
            <a:pPr algn="ctr">
              <a:lnSpc>
                <a:spcPts val="5739"/>
              </a:lnSpc>
            </a:pPr>
          </a:p>
        </p:txBody>
      </p:sp>
      <p:sp>
        <p:nvSpPr>
          <p:cNvPr name="TextBox 6" id="6"/>
          <p:cNvSpPr txBox="true"/>
          <p:nvPr/>
        </p:nvSpPr>
        <p:spPr>
          <a:xfrm rot="0">
            <a:off x="17249041" y="9526870"/>
            <a:ext cx="216376"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733799" y="1752600"/>
            <a:ext cx="16623429" cy="7792233"/>
          </a:xfrm>
          <a:custGeom>
            <a:avLst/>
            <a:gdLst/>
            <a:ahLst/>
            <a:cxnLst/>
            <a:rect r="r" b="b" t="t" l="l"/>
            <a:pathLst>
              <a:path h="7792233" w="16623429">
                <a:moveTo>
                  <a:pt x="0" y="0"/>
                </a:moveTo>
                <a:lnTo>
                  <a:pt x="16623430" y="0"/>
                </a:lnTo>
                <a:lnTo>
                  <a:pt x="16623430" y="7792233"/>
                </a:lnTo>
                <a:lnTo>
                  <a:pt x="0" y="7792233"/>
                </a:lnTo>
                <a:lnTo>
                  <a:pt x="0" y="0"/>
                </a:lnTo>
                <a:close/>
              </a:path>
            </a:pathLst>
          </a:custGeom>
          <a:blipFill>
            <a:blip r:embed="rId2"/>
            <a:stretch>
              <a:fillRect l="0" t="0" r="0" b="0"/>
            </a:stretch>
          </a:blipFill>
        </p:spPr>
      </p:sp>
      <p:sp>
        <p:nvSpPr>
          <p:cNvPr name="TextBox 5" id="5"/>
          <p:cNvSpPr txBox="true"/>
          <p:nvPr/>
        </p:nvSpPr>
        <p:spPr>
          <a:xfrm rot="0">
            <a:off x="0" y="242569"/>
            <a:ext cx="18288000" cy="2905762"/>
          </a:xfrm>
          <a:prstGeom prst="rect">
            <a:avLst/>
          </a:prstGeom>
        </p:spPr>
        <p:txBody>
          <a:bodyPr anchor="t" rtlCol="false" tIns="0" lIns="0" bIns="0" rIns="0">
            <a:spAutoFit/>
          </a:bodyPr>
          <a:lstStyle/>
          <a:p>
            <a:pPr algn="ctr">
              <a:lnSpc>
                <a:spcPts val="5739"/>
              </a:lnSpc>
            </a:pPr>
            <a:r>
              <a:rPr lang="en-US" sz="4099" b="true">
                <a:solidFill>
                  <a:srgbClr val="000000"/>
                </a:solidFill>
                <a:latin typeface="Poppins Bold"/>
                <a:ea typeface="Poppins Bold"/>
                <a:cs typeface="Poppins Bold"/>
                <a:sym typeface="Poppins Bold"/>
              </a:rPr>
              <a:t>1.5 Kỹ thuật Truy hồi tăng cường (RAG)</a:t>
            </a:r>
          </a:p>
          <a:p>
            <a:pPr algn="ctr">
              <a:lnSpc>
                <a:spcPts val="5739"/>
              </a:lnSpc>
            </a:pPr>
          </a:p>
          <a:p>
            <a:pPr algn="ctr">
              <a:lnSpc>
                <a:spcPts val="5739"/>
              </a:lnSpc>
            </a:pPr>
          </a:p>
          <a:p>
            <a:pPr algn="ctr">
              <a:lnSpc>
                <a:spcPts val="5739"/>
              </a:lnSpc>
            </a:pPr>
          </a:p>
        </p:txBody>
      </p:sp>
      <p:sp>
        <p:nvSpPr>
          <p:cNvPr name="TextBox 6" id="6"/>
          <p:cNvSpPr txBox="true"/>
          <p:nvPr/>
        </p:nvSpPr>
        <p:spPr>
          <a:xfrm rot="0">
            <a:off x="17249200" y="9526870"/>
            <a:ext cx="216059"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028700" y="1543060"/>
            <a:ext cx="16467959" cy="8728018"/>
          </a:xfrm>
          <a:custGeom>
            <a:avLst/>
            <a:gdLst/>
            <a:ahLst/>
            <a:cxnLst/>
            <a:rect r="r" b="b" t="t" l="l"/>
            <a:pathLst>
              <a:path h="8728018" w="16467959">
                <a:moveTo>
                  <a:pt x="0" y="0"/>
                </a:moveTo>
                <a:lnTo>
                  <a:pt x="16467959" y="0"/>
                </a:lnTo>
                <a:lnTo>
                  <a:pt x="16467959" y="8728018"/>
                </a:lnTo>
                <a:lnTo>
                  <a:pt x="0" y="8728018"/>
                </a:lnTo>
                <a:lnTo>
                  <a:pt x="0" y="0"/>
                </a:lnTo>
                <a:close/>
              </a:path>
            </a:pathLst>
          </a:custGeom>
          <a:blipFill>
            <a:blip r:embed="rId2"/>
            <a:stretch>
              <a:fillRect l="0" t="0" r="0" b="0"/>
            </a:stretch>
          </a:blipFill>
        </p:spPr>
      </p:sp>
      <p:sp>
        <p:nvSpPr>
          <p:cNvPr name="TextBox 5" id="5"/>
          <p:cNvSpPr txBox="true"/>
          <p:nvPr/>
        </p:nvSpPr>
        <p:spPr>
          <a:xfrm rot="0">
            <a:off x="0" y="242569"/>
            <a:ext cx="18288000" cy="3629662"/>
          </a:xfrm>
          <a:prstGeom prst="rect">
            <a:avLst/>
          </a:prstGeom>
        </p:spPr>
        <p:txBody>
          <a:bodyPr anchor="t" rtlCol="false" tIns="0" lIns="0" bIns="0" rIns="0">
            <a:spAutoFit/>
          </a:bodyPr>
          <a:lstStyle/>
          <a:p>
            <a:pPr algn="ctr">
              <a:lnSpc>
                <a:spcPts val="5739"/>
              </a:lnSpc>
            </a:pPr>
            <a:r>
              <a:rPr lang="en-US" sz="4099" b="true">
                <a:solidFill>
                  <a:srgbClr val="000000"/>
                </a:solidFill>
                <a:latin typeface="Poppins Bold"/>
                <a:ea typeface="Poppins Bold"/>
                <a:cs typeface="Poppins Bold"/>
                <a:sym typeface="Poppins Bold"/>
              </a:rPr>
              <a:t>1.6 Cơ sở dữ liệu Vector &amp; ChromaDB</a:t>
            </a:r>
          </a:p>
          <a:p>
            <a:pPr algn="ctr">
              <a:lnSpc>
                <a:spcPts val="5739"/>
              </a:lnSpc>
            </a:pPr>
          </a:p>
          <a:p>
            <a:pPr algn="ctr">
              <a:lnSpc>
                <a:spcPts val="5739"/>
              </a:lnSpc>
            </a:pPr>
          </a:p>
          <a:p>
            <a:pPr algn="ctr">
              <a:lnSpc>
                <a:spcPts val="5739"/>
              </a:lnSpc>
            </a:pPr>
          </a:p>
          <a:p>
            <a:pPr algn="ctr">
              <a:lnSpc>
                <a:spcPts val="5739"/>
              </a:lnSpc>
            </a:pPr>
          </a:p>
        </p:txBody>
      </p:sp>
      <p:sp>
        <p:nvSpPr>
          <p:cNvPr name="TextBox 6" id="6"/>
          <p:cNvSpPr txBox="true"/>
          <p:nvPr/>
        </p:nvSpPr>
        <p:spPr>
          <a:xfrm rot="0">
            <a:off x="17194669" y="9526870"/>
            <a:ext cx="325120"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AutoShape 4" id="4"/>
          <p:cNvSpPr/>
          <p:nvPr/>
        </p:nvSpPr>
        <p:spPr>
          <a:xfrm flipH="true">
            <a:off x="9026261" y="1967375"/>
            <a:ext cx="0" cy="8319625"/>
          </a:xfrm>
          <a:prstGeom prst="line">
            <a:avLst/>
          </a:prstGeom>
          <a:ln cap="rnd" w="95250">
            <a:solidFill>
              <a:srgbClr val="FF862F"/>
            </a:solidFill>
            <a:prstDash val="solid"/>
            <a:headEnd type="none" len="sm" w="sm"/>
            <a:tailEnd type="none" len="sm" w="sm"/>
          </a:ln>
        </p:spPr>
      </p:sp>
      <p:sp>
        <p:nvSpPr>
          <p:cNvPr name="Freeform 5" id="5"/>
          <p:cNvSpPr/>
          <p:nvPr/>
        </p:nvSpPr>
        <p:spPr>
          <a:xfrm flipH="false" flipV="false" rot="0">
            <a:off x="882654" y="5483232"/>
            <a:ext cx="7400656" cy="4803768"/>
          </a:xfrm>
          <a:custGeom>
            <a:avLst/>
            <a:gdLst/>
            <a:ahLst/>
            <a:cxnLst/>
            <a:rect r="r" b="b" t="t" l="l"/>
            <a:pathLst>
              <a:path h="4803768" w="7400656">
                <a:moveTo>
                  <a:pt x="0" y="0"/>
                </a:moveTo>
                <a:lnTo>
                  <a:pt x="7400657" y="0"/>
                </a:lnTo>
                <a:lnTo>
                  <a:pt x="7400657" y="4803768"/>
                </a:lnTo>
                <a:lnTo>
                  <a:pt x="0" y="4803768"/>
                </a:lnTo>
                <a:lnTo>
                  <a:pt x="0" y="0"/>
                </a:lnTo>
                <a:close/>
              </a:path>
            </a:pathLst>
          </a:custGeom>
          <a:blipFill>
            <a:blip r:embed="rId2"/>
            <a:stretch>
              <a:fillRect l="0" t="0" r="0" b="0"/>
            </a:stretch>
          </a:blipFill>
        </p:spPr>
      </p:sp>
      <p:sp>
        <p:nvSpPr>
          <p:cNvPr name="Freeform 6" id="6"/>
          <p:cNvSpPr/>
          <p:nvPr/>
        </p:nvSpPr>
        <p:spPr>
          <a:xfrm flipH="false" flipV="false" rot="0">
            <a:off x="10540246" y="7302500"/>
            <a:ext cx="6039724" cy="2013241"/>
          </a:xfrm>
          <a:custGeom>
            <a:avLst/>
            <a:gdLst/>
            <a:ahLst/>
            <a:cxnLst/>
            <a:rect r="r" b="b" t="t" l="l"/>
            <a:pathLst>
              <a:path h="2013241" w="6039724">
                <a:moveTo>
                  <a:pt x="0" y="0"/>
                </a:moveTo>
                <a:lnTo>
                  <a:pt x="6039725" y="0"/>
                </a:lnTo>
                <a:lnTo>
                  <a:pt x="6039725" y="2013241"/>
                </a:lnTo>
                <a:lnTo>
                  <a:pt x="0" y="2013241"/>
                </a:lnTo>
                <a:lnTo>
                  <a:pt x="0" y="0"/>
                </a:lnTo>
                <a:close/>
              </a:path>
            </a:pathLst>
          </a:custGeom>
          <a:blipFill>
            <a:blip r:embed="rId3"/>
            <a:stretch>
              <a:fillRect l="0" t="0" r="0" b="0"/>
            </a:stretch>
          </a:blipFill>
        </p:spPr>
      </p:sp>
      <p:sp>
        <p:nvSpPr>
          <p:cNvPr name="TextBox 7" id="7"/>
          <p:cNvSpPr txBox="true"/>
          <p:nvPr/>
        </p:nvSpPr>
        <p:spPr>
          <a:xfrm rot="0">
            <a:off x="17605385" y="9431963"/>
            <a:ext cx="227648" cy="509905"/>
          </a:xfrm>
          <a:prstGeom prst="rect">
            <a:avLst/>
          </a:prstGeom>
        </p:spPr>
        <p:txBody>
          <a:bodyPr anchor="t" rtlCol="false" tIns="0" lIns="0" bIns="0" rIns="0">
            <a:spAutoFit/>
          </a:bodyPr>
          <a:lstStyle/>
          <a:p>
            <a:pPr algn="ctr">
              <a:lnSpc>
                <a:spcPts val="3919"/>
              </a:lnSpc>
              <a:spcBef>
                <a:spcPct val="0"/>
              </a:spcBef>
            </a:pPr>
            <a:r>
              <a:rPr lang="en-US" sz="2799">
                <a:solidFill>
                  <a:srgbClr val="051D40"/>
                </a:solidFill>
                <a:latin typeface="Poppins"/>
                <a:ea typeface="Poppins"/>
                <a:cs typeface="Poppins"/>
                <a:sym typeface="Poppins"/>
              </a:rPr>
              <a:t>11</a:t>
            </a:r>
          </a:p>
        </p:txBody>
      </p:sp>
      <p:sp>
        <p:nvSpPr>
          <p:cNvPr name="TextBox 8" id="8"/>
          <p:cNvSpPr txBox="true"/>
          <p:nvPr/>
        </p:nvSpPr>
        <p:spPr>
          <a:xfrm rot="0">
            <a:off x="207662" y="1898447"/>
            <a:ext cx="9014744" cy="1334541"/>
          </a:xfrm>
          <a:prstGeom prst="rect">
            <a:avLst/>
          </a:prstGeom>
        </p:spPr>
        <p:txBody>
          <a:bodyPr anchor="t" rtlCol="false" tIns="0" lIns="0" bIns="0" rIns="0">
            <a:spAutoFit/>
          </a:bodyPr>
          <a:lstStyle/>
          <a:p>
            <a:pPr algn="just">
              <a:lnSpc>
                <a:spcPts val="5192"/>
              </a:lnSpc>
            </a:pPr>
            <a:r>
              <a:rPr lang="en-US" sz="3709" b="true">
                <a:solidFill>
                  <a:srgbClr val="F79433"/>
                </a:solidFill>
                <a:latin typeface="Poppins Bold"/>
                <a:ea typeface="Poppins Bold"/>
                <a:cs typeface="Poppins Bold"/>
                <a:sym typeface="Poppins Bold"/>
              </a:rPr>
              <a:t>Đường cong quên lãng Ebbinghaus </a:t>
            </a:r>
          </a:p>
          <a:p>
            <a:pPr algn="just">
              <a:lnSpc>
                <a:spcPts val="5192"/>
              </a:lnSpc>
            </a:pPr>
            <a:r>
              <a:rPr lang="en-US" sz="3709" b="true">
                <a:solidFill>
                  <a:srgbClr val="000000"/>
                </a:solidFill>
                <a:latin typeface="Poppins Bold"/>
                <a:ea typeface="Poppins Bold"/>
                <a:cs typeface="Poppins Bold"/>
                <a:sym typeface="Poppins Bold"/>
              </a:rPr>
              <a:t> </a:t>
            </a:r>
          </a:p>
        </p:txBody>
      </p:sp>
      <p:sp>
        <p:nvSpPr>
          <p:cNvPr name="TextBox 9" id="9"/>
          <p:cNvSpPr txBox="true"/>
          <p:nvPr/>
        </p:nvSpPr>
        <p:spPr>
          <a:xfrm rot="0">
            <a:off x="314974" y="2556192"/>
            <a:ext cx="8103054" cy="2193925"/>
          </a:xfrm>
          <a:prstGeom prst="rect">
            <a:avLst/>
          </a:prstGeom>
        </p:spPr>
        <p:txBody>
          <a:bodyPr anchor="t" rtlCol="false" tIns="0" lIns="0" bIns="0" rIns="0">
            <a:spAutoFit/>
          </a:bodyPr>
          <a:lstStyle/>
          <a:p>
            <a:pPr algn="just">
              <a:lnSpc>
                <a:spcPts val="3499"/>
              </a:lnSpc>
            </a:pPr>
          </a:p>
          <a:p>
            <a:pPr algn="just">
              <a:lnSpc>
                <a:spcPts val="3499"/>
              </a:lnSpc>
            </a:pPr>
            <a:r>
              <a:rPr lang="en-US" sz="2499">
                <a:solidFill>
                  <a:srgbClr val="000000"/>
                </a:solidFill>
                <a:latin typeface="Poppins"/>
                <a:ea typeface="Poppins"/>
                <a:cs typeface="Poppins"/>
                <a:sym typeface="Poppins"/>
              </a:rPr>
              <a:t>Nhà tâm lý học </a:t>
            </a:r>
            <a:r>
              <a:rPr lang="en-US" sz="2499" b="true">
                <a:solidFill>
                  <a:srgbClr val="DB560E"/>
                </a:solidFill>
                <a:latin typeface="Poppins Bold"/>
                <a:ea typeface="Poppins Bold"/>
                <a:cs typeface="Poppins Bold"/>
                <a:sym typeface="Poppins Bold"/>
              </a:rPr>
              <a:t>Hermann Ebbinghaus</a:t>
            </a:r>
            <a:r>
              <a:rPr lang="en-US" sz="2499">
                <a:solidFill>
                  <a:srgbClr val="000000"/>
                </a:solidFill>
                <a:latin typeface="Poppins"/>
                <a:ea typeface="Poppins"/>
                <a:cs typeface="Poppins"/>
                <a:sym typeface="Poppins"/>
              </a:rPr>
              <a:t> đã mô tả sự suy giảm khả năng ghi nhớ theo thời gian. Sau 1 giờ, khả năng ghi nhớ có thể </a:t>
            </a:r>
            <a:r>
              <a:rPr lang="en-US" sz="2499">
                <a:solidFill>
                  <a:srgbClr val="DB560E"/>
                </a:solidFill>
                <a:latin typeface="Poppins"/>
                <a:ea typeface="Poppins"/>
                <a:cs typeface="Poppins"/>
                <a:sym typeface="Poppins"/>
              </a:rPr>
              <a:t>giảm tới 50%</a:t>
            </a:r>
            <a:r>
              <a:rPr lang="en-US" sz="2499">
                <a:solidFill>
                  <a:srgbClr val="000000"/>
                </a:solidFill>
                <a:latin typeface="Poppins"/>
                <a:ea typeface="Poppins"/>
                <a:cs typeface="Poppins"/>
                <a:sym typeface="Poppins"/>
              </a:rPr>
              <a:t> nếu không được củng cố.</a:t>
            </a:r>
          </a:p>
        </p:txBody>
      </p:sp>
      <p:sp>
        <p:nvSpPr>
          <p:cNvPr name="TextBox 10" id="10"/>
          <p:cNvSpPr txBox="true"/>
          <p:nvPr/>
        </p:nvSpPr>
        <p:spPr>
          <a:xfrm rot="0">
            <a:off x="9508582" y="2917825"/>
            <a:ext cx="8103054" cy="4384675"/>
          </a:xfrm>
          <a:prstGeom prst="rect">
            <a:avLst/>
          </a:prstGeom>
        </p:spPr>
        <p:txBody>
          <a:bodyPr anchor="t" rtlCol="false" tIns="0" lIns="0" bIns="0" rIns="0">
            <a:spAutoFit/>
          </a:bodyPr>
          <a:lstStyle/>
          <a:p>
            <a:pPr algn="just">
              <a:lnSpc>
                <a:spcPts val="3499"/>
              </a:lnSpc>
            </a:pPr>
            <a:r>
              <a:rPr lang="en-US" sz="2499">
                <a:solidFill>
                  <a:srgbClr val="000000"/>
                </a:solidFill>
                <a:latin typeface="Poppins"/>
                <a:ea typeface="Poppins"/>
                <a:cs typeface="Poppins"/>
                <a:sym typeface="Poppins"/>
              </a:rPr>
              <a:t>Phát triển bởi Piot</a:t>
            </a:r>
            <a:r>
              <a:rPr lang="en-US" sz="2499">
                <a:solidFill>
                  <a:srgbClr val="000000"/>
                </a:solidFill>
                <a:latin typeface="Poppins"/>
                <a:ea typeface="Poppins"/>
                <a:cs typeface="Poppins"/>
                <a:sym typeface="Poppins"/>
              </a:rPr>
              <a:t>r</a:t>
            </a:r>
            <a:r>
              <a:rPr lang="en-US" sz="2499">
                <a:solidFill>
                  <a:srgbClr val="000000"/>
                </a:solidFill>
                <a:latin typeface="Poppins"/>
                <a:ea typeface="Poppins"/>
                <a:cs typeface="Poppins"/>
                <a:sym typeface="Poppins"/>
              </a:rPr>
              <a:t> Woźni</a:t>
            </a:r>
            <a:r>
              <a:rPr lang="en-US" sz="2499">
                <a:solidFill>
                  <a:srgbClr val="000000"/>
                </a:solidFill>
                <a:latin typeface="Poppins"/>
                <a:ea typeface="Poppins"/>
                <a:cs typeface="Poppins"/>
                <a:sym typeface="Poppins"/>
              </a:rPr>
              <a:t>a</a:t>
            </a:r>
            <a:r>
              <a:rPr lang="en-US" sz="2499">
                <a:solidFill>
                  <a:srgbClr val="000000"/>
                </a:solidFill>
                <a:latin typeface="Poppins"/>
                <a:ea typeface="Poppins"/>
                <a:cs typeface="Poppins"/>
                <a:sym typeface="Poppins"/>
              </a:rPr>
              <a:t>k (1987), SM-2 là </a:t>
            </a:r>
            <a:r>
              <a:rPr lang="en-US" sz="2499">
                <a:solidFill>
                  <a:srgbClr val="000000"/>
                </a:solidFill>
                <a:latin typeface="Poppins"/>
                <a:ea typeface="Poppins"/>
                <a:cs typeface="Poppins"/>
                <a:sym typeface="Poppins"/>
              </a:rPr>
              <a:t>n</a:t>
            </a:r>
            <a:r>
              <a:rPr lang="en-US" sz="2499">
                <a:solidFill>
                  <a:srgbClr val="000000"/>
                </a:solidFill>
                <a:latin typeface="Poppins"/>
                <a:ea typeface="Poppins"/>
                <a:cs typeface="Poppins"/>
                <a:sym typeface="Poppins"/>
              </a:rPr>
              <a:t>ề</a:t>
            </a:r>
            <a:r>
              <a:rPr lang="en-US" sz="2499">
                <a:solidFill>
                  <a:srgbClr val="000000"/>
                </a:solidFill>
                <a:latin typeface="Poppins"/>
                <a:ea typeface="Poppins"/>
                <a:cs typeface="Poppins"/>
                <a:sym typeface="Poppins"/>
              </a:rPr>
              <a:t>n </a:t>
            </a:r>
            <a:r>
              <a:rPr lang="en-US" sz="2499">
                <a:solidFill>
                  <a:srgbClr val="000000"/>
                </a:solidFill>
                <a:latin typeface="Poppins"/>
                <a:ea typeface="Poppins"/>
                <a:cs typeface="Poppins"/>
                <a:sym typeface="Poppins"/>
              </a:rPr>
              <a:t>tả</a:t>
            </a:r>
            <a:r>
              <a:rPr lang="en-US" sz="2499">
                <a:solidFill>
                  <a:srgbClr val="000000"/>
                </a:solidFill>
                <a:latin typeface="Poppins"/>
                <a:ea typeface="Poppins"/>
                <a:cs typeface="Poppins"/>
                <a:sym typeface="Poppins"/>
              </a:rPr>
              <a:t>ng</a:t>
            </a:r>
            <a:r>
              <a:rPr lang="en-US" sz="2499">
                <a:solidFill>
                  <a:srgbClr val="000000"/>
                </a:solidFill>
                <a:latin typeface="Poppins"/>
                <a:ea typeface="Poppins"/>
                <a:cs typeface="Poppins"/>
                <a:sym typeface="Poppins"/>
              </a:rPr>
              <a:t> củ</a:t>
            </a:r>
            <a:r>
              <a:rPr lang="en-US" sz="2499">
                <a:solidFill>
                  <a:srgbClr val="000000"/>
                </a:solidFill>
                <a:latin typeface="Poppins"/>
                <a:ea typeface="Poppins"/>
                <a:cs typeface="Poppins"/>
                <a:sym typeface="Poppins"/>
              </a:rPr>
              <a:t>a</a:t>
            </a:r>
            <a:r>
              <a:rPr lang="en-US" sz="2499">
                <a:solidFill>
                  <a:srgbClr val="000000"/>
                </a:solidFill>
                <a:latin typeface="Poppins"/>
                <a:ea typeface="Poppins"/>
                <a:cs typeface="Poppins"/>
                <a:sym typeface="Poppins"/>
              </a:rPr>
              <a:t> Hệ thống Lặp lại Ngắt quãng (SRS). Mục tiêu là tối ưu hóa khoảng thời gian lặp lại để ghi nhớ thông tin lâu dài.</a:t>
            </a:r>
          </a:p>
          <a:p>
            <a:pPr algn="just">
              <a:lnSpc>
                <a:spcPts val="3499"/>
              </a:lnSpc>
            </a:pPr>
            <a:r>
              <a:rPr lang="en-US" sz="2499" b="true">
                <a:solidFill>
                  <a:srgbClr val="000000"/>
                </a:solidFill>
                <a:latin typeface="Poppins Bold"/>
                <a:ea typeface="Poppins Bold"/>
                <a:cs typeface="Poppins Bold"/>
                <a:sym typeface="Poppins Bold"/>
              </a:rPr>
              <a:t>Các biến &amp; Công thức</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I (Interval): Khoảng thời gian lặp lại.</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EF (Ease Factor): Độ khó ghi nhớ của </a:t>
            </a:r>
            <a:r>
              <a:rPr lang="en-US" sz="2499">
                <a:solidFill>
                  <a:srgbClr val="000000"/>
                </a:solidFill>
                <a:latin typeface="Poppins"/>
                <a:ea typeface="Poppins"/>
                <a:cs typeface="Poppins"/>
                <a:sym typeface="Poppins"/>
              </a:rPr>
              <a:t>m</a:t>
            </a:r>
            <a:r>
              <a:rPr lang="en-US" sz="2499">
                <a:solidFill>
                  <a:srgbClr val="000000"/>
                </a:solidFill>
                <a:latin typeface="Poppins"/>
                <a:ea typeface="Poppins"/>
                <a:cs typeface="Poppins"/>
                <a:sym typeface="Poppins"/>
              </a:rPr>
              <a:t>ục.</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q</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(Qual</a:t>
            </a:r>
            <a:r>
              <a:rPr lang="en-US" sz="2499">
                <a:solidFill>
                  <a:srgbClr val="000000"/>
                </a:solidFill>
                <a:latin typeface="Poppins"/>
                <a:ea typeface="Poppins"/>
                <a:cs typeface="Poppins"/>
                <a:sym typeface="Poppins"/>
              </a:rPr>
              <a:t>i</a:t>
            </a:r>
            <a:r>
              <a:rPr lang="en-US" sz="2499">
                <a:solidFill>
                  <a:srgbClr val="000000"/>
                </a:solidFill>
                <a:latin typeface="Poppins"/>
                <a:ea typeface="Poppins"/>
                <a:cs typeface="Poppins"/>
                <a:sym typeface="Poppins"/>
              </a:rPr>
              <a:t>ty</a:t>
            </a:r>
            <a:r>
              <a:rPr lang="en-US" sz="2499">
                <a:solidFill>
                  <a:srgbClr val="000000"/>
                </a:solidFill>
                <a:latin typeface="Poppins"/>
                <a:ea typeface="Poppins"/>
                <a:cs typeface="Poppins"/>
                <a:sym typeface="Poppins"/>
              </a:rPr>
              <a:t> </a:t>
            </a:r>
            <a:r>
              <a:rPr lang="en-US" sz="2499">
                <a:solidFill>
                  <a:srgbClr val="000000"/>
                </a:solidFill>
                <a:latin typeface="Poppins"/>
                <a:ea typeface="Poppins"/>
                <a:cs typeface="Poppins"/>
                <a:sym typeface="Poppins"/>
              </a:rPr>
              <a:t>of Response): Chất lượng phản hồi (0-5).</a:t>
            </a:r>
          </a:p>
          <a:p>
            <a:pPr algn="just">
              <a:lnSpc>
                <a:spcPts val="3499"/>
              </a:lnSpc>
            </a:pPr>
          </a:p>
        </p:txBody>
      </p:sp>
      <p:sp>
        <p:nvSpPr>
          <p:cNvPr name="TextBox 11" id="11"/>
          <p:cNvSpPr txBox="true"/>
          <p:nvPr/>
        </p:nvSpPr>
        <p:spPr>
          <a:xfrm rot="0">
            <a:off x="9273256" y="1898447"/>
            <a:ext cx="9014744" cy="1334541"/>
          </a:xfrm>
          <a:prstGeom prst="rect">
            <a:avLst/>
          </a:prstGeom>
        </p:spPr>
        <p:txBody>
          <a:bodyPr anchor="t" rtlCol="false" tIns="0" lIns="0" bIns="0" rIns="0">
            <a:spAutoFit/>
          </a:bodyPr>
          <a:lstStyle/>
          <a:p>
            <a:pPr algn="just">
              <a:lnSpc>
                <a:spcPts val="5192"/>
              </a:lnSpc>
            </a:pPr>
            <a:r>
              <a:rPr lang="en-US" sz="3709" b="true">
                <a:solidFill>
                  <a:srgbClr val="F79433"/>
                </a:solidFill>
                <a:latin typeface="Poppins Bold"/>
                <a:ea typeface="Poppins Bold"/>
                <a:cs typeface="Poppins Bold"/>
                <a:sym typeface="Poppins Bold"/>
              </a:rPr>
              <a:t>Nguyên lý thuật toán SM-2</a:t>
            </a:r>
          </a:p>
          <a:p>
            <a:pPr algn="just">
              <a:lnSpc>
                <a:spcPts val="5192"/>
              </a:lnSpc>
            </a:pPr>
          </a:p>
        </p:txBody>
      </p:sp>
      <p:sp>
        <p:nvSpPr>
          <p:cNvPr name="TextBox 12" id="12"/>
          <p:cNvSpPr txBox="true"/>
          <p:nvPr/>
        </p:nvSpPr>
        <p:spPr>
          <a:xfrm rot="0">
            <a:off x="0" y="242569"/>
            <a:ext cx="18288000" cy="734062"/>
          </a:xfrm>
          <a:prstGeom prst="rect">
            <a:avLst/>
          </a:prstGeom>
        </p:spPr>
        <p:txBody>
          <a:bodyPr anchor="t" rtlCol="false" tIns="0" lIns="0" bIns="0" rIns="0">
            <a:spAutoFit/>
          </a:bodyPr>
          <a:lstStyle/>
          <a:p>
            <a:pPr algn="ctr">
              <a:lnSpc>
                <a:spcPts val="5739"/>
              </a:lnSpc>
            </a:pPr>
            <a:r>
              <a:rPr lang="en-US" b="true" sz="4099">
                <a:solidFill>
                  <a:srgbClr val="000000"/>
                </a:solidFill>
                <a:latin typeface="Poppins Bold"/>
                <a:ea typeface="Poppins Bold"/>
                <a:cs typeface="Poppins Bold"/>
                <a:sym typeface="Poppins Bold"/>
              </a:rPr>
              <a:t>1.7 Kiến trúc Hybrid Backend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AutoShape 4" id="4"/>
          <p:cNvSpPr/>
          <p:nvPr/>
        </p:nvSpPr>
        <p:spPr>
          <a:xfrm flipH="true">
            <a:off x="9026261" y="2012747"/>
            <a:ext cx="0" cy="8274253"/>
          </a:xfrm>
          <a:prstGeom prst="line">
            <a:avLst/>
          </a:prstGeom>
          <a:ln cap="rnd" w="95250">
            <a:solidFill>
              <a:srgbClr val="FF862F"/>
            </a:solidFill>
            <a:prstDash val="solid"/>
            <a:headEnd type="none" len="sm" w="sm"/>
            <a:tailEnd type="none" len="sm" w="sm"/>
          </a:ln>
        </p:spPr>
      </p:sp>
      <p:sp>
        <p:nvSpPr>
          <p:cNvPr name="Freeform 5" id="5"/>
          <p:cNvSpPr/>
          <p:nvPr/>
        </p:nvSpPr>
        <p:spPr>
          <a:xfrm flipH="false" flipV="false" rot="0">
            <a:off x="9918750" y="2025804"/>
            <a:ext cx="7145385" cy="7491885"/>
          </a:xfrm>
          <a:custGeom>
            <a:avLst/>
            <a:gdLst/>
            <a:ahLst/>
            <a:cxnLst/>
            <a:rect r="r" b="b" t="t" l="l"/>
            <a:pathLst>
              <a:path h="7491885" w="7145385">
                <a:moveTo>
                  <a:pt x="0" y="0"/>
                </a:moveTo>
                <a:lnTo>
                  <a:pt x="7145385" y="0"/>
                </a:lnTo>
                <a:lnTo>
                  <a:pt x="7145385" y="7491884"/>
                </a:lnTo>
                <a:lnTo>
                  <a:pt x="0" y="7491884"/>
                </a:lnTo>
                <a:lnTo>
                  <a:pt x="0" y="0"/>
                </a:lnTo>
                <a:close/>
              </a:path>
            </a:pathLst>
          </a:custGeom>
          <a:blipFill>
            <a:blip r:embed="rId2"/>
            <a:stretch>
              <a:fillRect l="0" t="0" r="0" b="0"/>
            </a:stretch>
          </a:blipFill>
        </p:spPr>
      </p:sp>
      <p:sp>
        <p:nvSpPr>
          <p:cNvPr name="TextBox 6" id="6"/>
          <p:cNvSpPr txBox="true"/>
          <p:nvPr/>
        </p:nvSpPr>
        <p:spPr>
          <a:xfrm rot="0">
            <a:off x="17569586" y="9431963"/>
            <a:ext cx="318294" cy="509905"/>
          </a:xfrm>
          <a:prstGeom prst="rect">
            <a:avLst/>
          </a:prstGeom>
        </p:spPr>
        <p:txBody>
          <a:bodyPr anchor="t" rtlCol="false" tIns="0" lIns="0" bIns="0" rIns="0">
            <a:spAutoFit/>
          </a:bodyPr>
          <a:lstStyle/>
          <a:p>
            <a:pPr algn="ctr">
              <a:lnSpc>
                <a:spcPts val="3919"/>
              </a:lnSpc>
              <a:spcBef>
                <a:spcPct val="0"/>
              </a:spcBef>
            </a:pPr>
            <a:r>
              <a:rPr lang="en-US" sz="2799">
                <a:solidFill>
                  <a:srgbClr val="051D40"/>
                </a:solidFill>
                <a:latin typeface="Poppins"/>
                <a:ea typeface="Poppins"/>
                <a:cs typeface="Poppins"/>
                <a:sym typeface="Poppins"/>
              </a:rPr>
              <a:t>12</a:t>
            </a:r>
          </a:p>
        </p:txBody>
      </p:sp>
      <p:sp>
        <p:nvSpPr>
          <p:cNvPr name="TextBox 7" id="7"/>
          <p:cNvSpPr txBox="true"/>
          <p:nvPr/>
        </p:nvSpPr>
        <p:spPr>
          <a:xfrm rot="0">
            <a:off x="437432" y="2084954"/>
            <a:ext cx="8103054" cy="4822825"/>
          </a:xfrm>
          <a:prstGeom prst="rect">
            <a:avLst/>
          </a:prstGeom>
        </p:spPr>
        <p:txBody>
          <a:bodyPr anchor="t" rtlCol="false" tIns="0" lIns="0" bIns="0" rIns="0">
            <a:spAutoFit/>
          </a:bodyPr>
          <a:lstStyle/>
          <a:p>
            <a:pPr algn="just">
              <a:lnSpc>
                <a:spcPts val="3499"/>
              </a:lnSpc>
            </a:pPr>
          </a:p>
          <a:p>
            <a:pPr algn="just">
              <a:lnSpc>
                <a:spcPts val="3499"/>
              </a:lnSpc>
            </a:pPr>
            <a:r>
              <a:rPr lang="en-US" sz="2499">
                <a:solidFill>
                  <a:srgbClr val="DB560E"/>
                </a:solidFill>
                <a:latin typeface="Poppins"/>
                <a:ea typeface="Poppins"/>
                <a:cs typeface="Poppins"/>
                <a:sym typeface="Poppins"/>
              </a:rPr>
              <a:t>Kiến trúc Hybrid Backend </a:t>
            </a:r>
            <a:r>
              <a:rPr lang="en-US" sz="2499">
                <a:solidFill>
                  <a:srgbClr val="000000"/>
                </a:solidFill>
                <a:latin typeface="Poppins"/>
                <a:ea typeface="Poppins"/>
                <a:cs typeface="Poppins"/>
                <a:sym typeface="Poppins"/>
              </a:rPr>
              <a:t>là mô hình kết hợp nhiều công nghệ backend khác nhau (ngôn ngữ, framework, dịch vụ) trong một hệ thống thống nhất, mỗi backend đảm nhiệm một vai trò chuyên biệt, và các thành phần giao tiếp với nhau qua API / Message Queue / Event.</a:t>
            </a:r>
          </a:p>
          <a:p>
            <a:pPr algn="just">
              <a:lnSpc>
                <a:spcPts val="3499"/>
              </a:lnSpc>
            </a:pPr>
          </a:p>
          <a:p>
            <a:pPr algn="just">
              <a:lnSpc>
                <a:spcPts val="3499"/>
              </a:lnSpc>
            </a:pPr>
            <a:r>
              <a:rPr lang="en-US" sz="2499">
                <a:solidFill>
                  <a:srgbClr val="000000"/>
                </a:solidFill>
                <a:latin typeface="Poppins"/>
                <a:ea typeface="Poppins"/>
                <a:cs typeface="Poppins"/>
                <a:sym typeface="Poppins"/>
              </a:rPr>
              <a:t>Nói ngắn gọn:</a:t>
            </a:r>
          </a:p>
          <a:p>
            <a:pPr algn="just">
              <a:lnSpc>
                <a:spcPts val="3499"/>
              </a:lnSpc>
            </a:pPr>
            <a:r>
              <a:rPr lang="en-US" sz="2499">
                <a:solidFill>
                  <a:srgbClr val="000000"/>
                </a:solidFill>
                <a:latin typeface="Poppins"/>
                <a:ea typeface="Poppins"/>
                <a:cs typeface="Poppins"/>
                <a:sym typeface="Poppins"/>
              </a:rPr>
              <a:t> 👉 Không dùng 1 backend “ôm hết”, mà chia nhỏ theo </a:t>
            </a:r>
            <a:r>
              <a:rPr lang="en-US" sz="2499">
                <a:solidFill>
                  <a:srgbClr val="DB560E"/>
                </a:solidFill>
                <a:latin typeface="Poppins"/>
                <a:ea typeface="Poppins"/>
                <a:cs typeface="Poppins"/>
                <a:sym typeface="Poppins"/>
              </a:rPr>
              <a:t>đúng thế mạnh từng công nghệ.</a:t>
            </a:r>
          </a:p>
        </p:txBody>
      </p:sp>
      <p:sp>
        <p:nvSpPr>
          <p:cNvPr name="TextBox 8" id="8"/>
          <p:cNvSpPr txBox="true"/>
          <p:nvPr/>
        </p:nvSpPr>
        <p:spPr>
          <a:xfrm rot="0">
            <a:off x="0" y="242569"/>
            <a:ext cx="18288000" cy="1457962"/>
          </a:xfrm>
          <a:prstGeom prst="rect">
            <a:avLst/>
          </a:prstGeom>
        </p:spPr>
        <p:txBody>
          <a:bodyPr anchor="t" rtlCol="false" tIns="0" lIns="0" bIns="0" rIns="0">
            <a:spAutoFit/>
          </a:bodyPr>
          <a:lstStyle/>
          <a:p>
            <a:pPr algn="ctr">
              <a:lnSpc>
                <a:spcPts val="5739"/>
              </a:lnSpc>
            </a:pPr>
            <a:r>
              <a:rPr lang="en-US" b="true" sz="4099">
                <a:solidFill>
                  <a:srgbClr val="000000"/>
                </a:solidFill>
                <a:latin typeface="Poppins Bold"/>
                <a:ea typeface="Poppins Bold"/>
                <a:cs typeface="Poppins Bold"/>
                <a:sym typeface="Poppins Bold"/>
              </a:rPr>
              <a:t>2.1 Kiến trúc hệ thống</a:t>
            </a:r>
          </a:p>
          <a:p>
            <a:pPr algn="ctr">
              <a:lnSpc>
                <a:spcPts val="573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0" y="2565275"/>
            <a:ext cx="7056476" cy="5654227"/>
          </a:xfrm>
          <a:custGeom>
            <a:avLst/>
            <a:gdLst/>
            <a:ahLst/>
            <a:cxnLst/>
            <a:rect r="r" b="b" t="t" l="l"/>
            <a:pathLst>
              <a:path h="5654227" w="7056476">
                <a:moveTo>
                  <a:pt x="0" y="0"/>
                </a:moveTo>
                <a:lnTo>
                  <a:pt x="7056476" y="0"/>
                </a:lnTo>
                <a:lnTo>
                  <a:pt x="7056476" y="5654228"/>
                </a:lnTo>
                <a:lnTo>
                  <a:pt x="0" y="5654228"/>
                </a:lnTo>
                <a:lnTo>
                  <a:pt x="0" y="0"/>
                </a:lnTo>
                <a:close/>
              </a:path>
            </a:pathLst>
          </a:custGeom>
          <a:blipFill>
            <a:blip r:embed="rId2"/>
            <a:stretch>
              <a:fillRect l="0" t="0" r="0" b="0"/>
            </a:stretch>
          </a:blipFill>
        </p:spPr>
      </p:sp>
      <p:sp>
        <p:nvSpPr>
          <p:cNvPr name="Freeform 5" id="5"/>
          <p:cNvSpPr/>
          <p:nvPr/>
        </p:nvSpPr>
        <p:spPr>
          <a:xfrm flipH="false" flipV="false" rot="0">
            <a:off x="7056476" y="2179283"/>
            <a:ext cx="4541406" cy="6040220"/>
          </a:xfrm>
          <a:custGeom>
            <a:avLst/>
            <a:gdLst/>
            <a:ahLst/>
            <a:cxnLst/>
            <a:rect r="r" b="b" t="t" l="l"/>
            <a:pathLst>
              <a:path h="6040220" w="4541406">
                <a:moveTo>
                  <a:pt x="0" y="0"/>
                </a:moveTo>
                <a:lnTo>
                  <a:pt x="4541406" y="0"/>
                </a:lnTo>
                <a:lnTo>
                  <a:pt x="4541406" y="6040220"/>
                </a:lnTo>
                <a:lnTo>
                  <a:pt x="0" y="6040220"/>
                </a:lnTo>
                <a:lnTo>
                  <a:pt x="0" y="0"/>
                </a:lnTo>
                <a:close/>
              </a:path>
            </a:pathLst>
          </a:custGeom>
          <a:blipFill>
            <a:blip r:embed="rId3"/>
            <a:stretch>
              <a:fillRect l="0" t="0" r="0" b="0"/>
            </a:stretch>
          </a:blipFill>
        </p:spPr>
      </p:sp>
      <p:sp>
        <p:nvSpPr>
          <p:cNvPr name="Freeform 6" id="6"/>
          <p:cNvSpPr/>
          <p:nvPr/>
        </p:nvSpPr>
        <p:spPr>
          <a:xfrm flipH="false" flipV="false" rot="0">
            <a:off x="11597882" y="2179283"/>
            <a:ext cx="6889178" cy="6113575"/>
          </a:xfrm>
          <a:custGeom>
            <a:avLst/>
            <a:gdLst/>
            <a:ahLst/>
            <a:cxnLst/>
            <a:rect r="r" b="b" t="t" l="l"/>
            <a:pathLst>
              <a:path h="6113575" w="6889178">
                <a:moveTo>
                  <a:pt x="0" y="0"/>
                </a:moveTo>
                <a:lnTo>
                  <a:pt x="6889177" y="0"/>
                </a:lnTo>
                <a:lnTo>
                  <a:pt x="6889177" y="6113575"/>
                </a:lnTo>
                <a:lnTo>
                  <a:pt x="0" y="6113575"/>
                </a:lnTo>
                <a:lnTo>
                  <a:pt x="0" y="0"/>
                </a:lnTo>
                <a:close/>
              </a:path>
            </a:pathLst>
          </a:custGeom>
          <a:blipFill>
            <a:blip r:embed="rId4"/>
            <a:stretch>
              <a:fillRect l="0" t="0" r="0" b="0"/>
            </a:stretch>
          </a:blipFill>
        </p:spPr>
      </p:sp>
      <p:sp>
        <p:nvSpPr>
          <p:cNvPr name="TextBox 7" id="7"/>
          <p:cNvSpPr txBox="true"/>
          <p:nvPr/>
        </p:nvSpPr>
        <p:spPr>
          <a:xfrm rot="0">
            <a:off x="5876390" y="622029"/>
            <a:ext cx="7727074" cy="1508667"/>
          </a:xfrm>
          <a:prstGeom prst="rect">
            <a:avLst/>
          </a:prstGeom>
        </p:spPr>
        <p:txBody>
          <a:bodyPr anchor="t" rtlCol="false" tIns="0" lIns="0" bIns="0" rIns="0">
            <a:spAutoFit/>
          </a:bodyPr>
          <a:lstStyle/>
          <a:p>
            <a:pPr algn="l">
              <a:lnSpc>
                <a:spcPts val="6095"/>
              </a:lnSpc>
            </a:pPr>
            <a:r>
              <a:rPr lang="en-US" sz="4353" spc="-87" b="true">
                <a:solidFill>
                  <a:srgbClr val="051D40"/>
                </a:solidFill>
                <a:latin typeface="TT Norms Bold"/>
                <a:ea typeface="TT Norms Bold"/>
                <a:cs typeface="TT Norms Bold"/>
                <a:sym typeface="TT Norms Bold"/>
              </a:rPr>
              <a:t>Kỹ thuật Web Scraping &amp; OCR</a:t>
            </a:r>
          </a:p>
          <a:p>
            <a:pPr algn="l">
              <a:lnSpc>
                <a:spcPts val="6095"/>
              </a:lnSpc>
              <a:spcBef>
                <a:spcPct val="0"/>
              </a:spcBef>
            </a:pPr>
          </a:p>
        </p:txBody>
      </p:sp>
      <p:sp>
        <p:nvSpPr>
          <p:cNvPr name="TextBox 8" id="8"/>
          <p:cNvSpPr txBox="true"/>
          <p:nvPr/>
        </p:nvSpPr>
        <p:spPr>
          <a:xfrm rot="0">
            <a:off x="17551333" y="9470870"/>
            <a:ext cx="311785"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0527778" y="1781975"/>
            <a:ext cx="7519373" cy="6723051"/>
          </a:xfrm>
          <a:custGeom>
            <a:avLst/>
            <a:gdLst/>
            <a:ahLst/>
            <a:cxnLst/>
            <a:rect r="r" b="b" t="t" l="l"/>
            <a:pathLst>
              <a:path h="6723051" w="7519373">
                <a:moveTo>
                  <a:pt x="0" y="0"/>
                </a:moveTo>
                <a:lnTo>
                  <a:pt x="7519373" y="0"/>
                </a:lnTo>
                <a:lnTo>
                  <a:pt x="7519373" y="6723050"/>
                </a:lnTo>
                <a:lnTo>
                  <a:pt x="0" y="6723050"/>
                </a:lnTo>
                <a:lnTo>
                  <a:pt x="0" y="0"/>
                </a:lnTo>
                <a:close/>
              </a:path>
            </a:pathLst>
          </a:custGeom>
          <a:blipFill>
            <a:blip r:embed="rId2"/>
            <a:stretch>
              <a:fillRect l="0" t="0" r="0" b="0"/>
            </a:stretch>
          </a:blipFill>
        </p:spPr>
      </p:sp>
      <p:sp>
        <p:nvSpPr>
          <p:cNvPr name="TextBox 5" id="5"/>
          <p:cNvSpPr txBox="true"/>
          <p:nvPr/>
        </p:nvSpPr>
        <p:spPr>
          <a:xfrm rot="0">
            <a:off x="5876390" y="622029"/>
            <a:ext cx="7727074" cy="737142"/>
          </a:xfrm>
          <a:prstGeom prst="rect">
            <a:avLst/>
          </a:prstGeom>
        </p:spPr>
        <p:txBody>
          <a:bodyPr anchor="t" rtlCol="false" tIns="0" lIns="0" bIns="0" rIns="0">
            <a:spAutoFit/>
          </a:bodyPr>
          <a:lstStyle/>
          <a:p>
            <a:pPr algn="l">
              <a:lnSpc>
                <a:spcPts val="6095"/>
              </a:lnSpc>
              <a:spcBef>
                <a:spcPct val="0"/>
              </a:spcBef>
            </a:pPr>
            <a:r>
              <a:rPr lang="en-US" b="true" sz="4353" spc="-87">
                <a:solidFill>
                  <a:srgbClr val="051D40"/>
                </a:solidFill>
                <a:latin typeface="TT Norms Bold"/>
                <a:ea typeface="TT Norms Bold"/>
                <a:cs typeface="TT Norms Bold"/>
                <a:sym typeface="TT Norms Bold"/>
              </a:rPr>
              <a:t>Auto Tool Execution</a:t>
            </a:r>
          </a:p>
        </p:txBody>
      </p:sp>
      <p:sp>
        <p:nvSpPr>
          <p:cNvPr name="TextBox 6" id="6"/>
          <p:cNvSpPr txBox="true"/>
          <p:nvPr/>
        </p:nvSpPr>
        <p:spPr>
          <a:xfrm rot="0">
            <a:off x="694520" y="2236162"/>
            <a:ext cx="6998751" cy="1317625"/>
          </a:xfrm>
          <a:prstGeom prst="rect">
            <a:avLst/>
          </a:prstGeom>
        </p:spPr>
        <p:txBody>
          <a:bodyPr anchor="t" rtlCol="false" tIns="0" lIns="0" bIns="0" rIns="0">
            <a:spAutoFit/>
          </a:bodyPr>
          <a:lstStyle/>
          <a:p>
            <a:pPr algn="l">
              <a:lnSpc>
                <a:spcPts val="3499"/>
              </a:lnSpc>
              <a:spcBef>
                <a:spcPct val="0"/>
              </a:spcBef>
            </a:pPr>
            <a:r>
              <a:rPr lang="en-US" sz="2499" spc="-49">
                <a:solidFill>
                  <a:srgbClr val="051D40"/>
                </a:solidFill>
                <a:latin typeface="Poppins"/>
                <a:ea typeface="Poppins"/>
                <a:cs typeface="Poppins"/>
                <a:sym typeface="Poppins"/>
              </a:rPr>
              <a:t>Đây là hệ thống tự động hóa hành động (Auto Tool Execution) dựa trên ý định (intent) của người dùng khi chat.</a:t>
            </a:r>
          </a:p>
        </p:txBody>
      </p:sp>
      <p:sp>
        <p:nvSpPr>
          <p:cNvPr name="TextBox 7" id="7"/>
          <p:cNvSpPr txBox="true"/>
          <p:nvPr/>
        </p:nvSpPr>
        <p:spPr>
          <a:xfrm rot="0">
            <a:off x="694520" y="4700786"/>
            <a:ext cx="7387308" cy="1755775"/>
          </a:xfrm>
          <a:prstGeom prst="rect">
            <a:avLst/>
          </a:prstGeom>
        </p:spPr>
        <p:txBody>
          <a:bodyPr anchor="t" rtlCol="false" tIns="0" lIns="0" bIns="0" rIns="0">
            <a:spAutoFit/>
          </a:bodyPr>
          <a:lstStyle/>
          <a:p>
            <a:pPr algn="l">
              <a:lnSpc>
                <a:spcPts val="3499"/>
              </a:lnSpc>
              <a:spcBef>
                <a:spcPct val="0"/>
              </a:spcBef>
            </a:pPr>
            <a:r>
              <a:rPr lang="en-US" sz="2499" spc="-49">
                <a:solidFill>
                  <a:srgbClr val="051D40"/>
                </a:solidFill>
                <a:latin typeface="Poppins"/>
                <a:ea typeface="Poppins"/>
                <a:cs typeface="Poppins"/>
                <a:sym typeface="Poppins"/>
              </a:rPr>
              <a:t>window.open() là API của trình duyệt cho phép frontend thực thi hành động mở trang web, đóng vai trò cầu nối giữa quyết định của AI và hành động thực tế trên trình duyệt.</a:t>
            </a:r>
          </a:p>
        </p:txBody>
      </p:sp>
      <p:sp>
        <p:nvSpPr>
          <p:cNvPr name="TextBox 8" id="8"/>
          <p:cNvSpPr txBox="true"/>
          <p:nvPr/>
        </p:nvSpPr>
        <p:spPr>
          <a:xfrm rot="0">
            <a:off x="17194510" y="9526870"/>
            <a:ext cx="325438"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1061470" y="1744934"/>
            <a:ext cx="6370625" cy="8423967"/>
          </a:xfrm>
          <a:custGeom>
            <a:avLst/>
            <a:gdLst/>
            <a:ahLst/>
            <a:cxnLst/>
            <a:rect r="r" b="b" t="t" l="l"/>
            <a:pathLst>
              <a:path h="8423967" w="6370625">
                <a:moveTo>
                  <a:pt x="0" y="0"/>
                </a:moveTo>
                <a:lnTo>
                  <a:pt x="6370625" y="0"/>
                </a:lnTo>
                <a:lnTo>
                  <a:pt x="6370625" y="8423966"/>
                </a:lnTo>
                <a:lnTo>
                  <a:pt x="0" y="8423966"/>
                </a:lnTo>
                <a:lnTo>
                  <a:pt x="0" y="0"/>
                </a:lnTo>
                <a:close/>
              </a:path>
            </a:pathLst>
          </a:custGeom>
          <a:blipFill>
            <a:blip r:embed="rId2"/>
            <a:stretch>
              <a:fillRect l="0" t="0" r="0" b="0"/>
            </a:stretch>
          </a:blipFill>
        </p:spPr>
      </p:sp>
      <p:sp>
        <p:nvSpPr>
          <p:cNvPr name="TextBox 5" id="5"/>
          <p:cNvSpPr txBox="true"/>
          <p:nvPr/>
        </p:nvSpPr>
        <p:spPr>
          <a:xfrm rot="0">
            <a:off x="6871794" y="236266"/>
            <a:ext cx="7727074" cy="1508667"/>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Google OAuth 2.0</a:t>
            </a:r>
          </a:p>
          <a:p>
            <a:pPr algn="l">
              <a:lnSpc>
                <a:spcPts val="6095"/>
              </a:lnSpc>
              <a:spcBef>
                <a:spcPct val="0"/>
              </a:spcBef>
            </a:pPr>
          </a:p>
        </p:txBody>
      </p:sp>
      <p:sp>
        <p:nvSpPr>
          <p:cNvPr name="TextBox 6" id="6"/>
          <p:cNvSpPr txBox="true"/>
          <p:nvPr/>
        </p:nvSpPr>
        <p:spPr>
          <a:xfrm rot="0">
            <a:off x="1028700" y="3589066"/>
            <a:ext cx="8711227" cy="2193925"/>
          </a:xfrm>
          <a:prstGeom prst="rect">
            <a:avLst/>
          </a:prstGeom>
        </p:spPr>
        <p:txBody>
          <a:bodyPr anchor="t" rtlCol="false" tIns="0" lIns="0" bIns="0" rIns="0">
            <a:spAutoFit/>
          </a:bodyPr>
          <a:lstStyle/>
          <a:p>
            <a:pPr algn="ctr">
              <a:lnSpc>
                <a:spcPts val="3499"/>
              </a:lnSpc>
              <a:spcBef>
                <a:spcPct val="0"/>
              </a:spcBef>
            </a:pPr>
            <a:r>
              <a:rPr lang="en-US" sz="2499" spc="-49">
                <a:solidFill>
                  <a:srgbClr val="051D40"/>
                </a:solidFill>
                <a:latin typeface="Poppins"/>
                <a:ea typeface="Poppins"/>
                <a:cs typeface="Poppins"/>
                <a:sym typeface="Poppins"/>
              </a:rPr>
              <a:t>OAuth 2.0 (Open Authorization) là một giao thức ủy quyền tiêu chuẩn cho phép ứng dụng bên thứ ba (như EduAgent) truy cập vào tài nguyên của người dùng trên Google (Gmail, Calendar, Drive...) mà không cần biết mật khẩu Google của họ.</a:t>
            </a:r>
          </a:p>
        </p:txBody>
      </p:sp>
      <p:sp>
        <p:nvSpPr>
          <p:cNvPr name="TextBox 7" id="7"/>
          <p:cNvSpPr txBox="true"/>
          <p:nvPr/>
        </p:nvSpPr>
        <p:spPr>
          <a:xfrm rot="0">
            <a:off x="17740091" y="9442871"/>
            <a:ext cx="325120"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8349594" y="1744934"/>
            <a:ext cx="9083763" cy="8391126"/>
          </a:xfrm>
          <a:custGeom>
            <a:avLst/>
            <a:gdLst/>
            <a:ahLst/>
            <a:cxnLst/>
            <a:rect r="r" b="b" t="t" l="l"/>
            <a:pathLst>
              <a:path h="8391126" w="9083763">
                <a:moveTo>
                  <a:pt x="0" y="0"/>
                </a:moveTo>
                <a:lnTo>
                  <a:pt x="9083763" y="0"/>
                </a:lnTo>
                <a:lnTo>
                  <a:pt x="9083763" y="8391126"/>
                </a:lnTo>
                <a:lnTo>
                  <a:pt x="0" y="8391126"/>
                </a:lnTo>
                <a:lnTo>
                  <a:pt x="0" y="0"/>
                </a:lnTo>
                <a:close/>
              </a:path>
            </a:pathLst>
          </a:custGeom>
          <a:blipFill>
            <a:blip r:embed="rId2"/>
            <a:stretch>
              <a:fillRect l="0" t="0" r="0" b="0"/>
            </a:stretch>
          </a:blipFill>
        </p:spPr>
      </p:sp>
      <p:sp>
        <p:nvSpPr>
          <p:cNvPr name="TextBox 5" id="5"/>
          <p:cNvSpPr txBox="true"/>
          <p:nvPr/>
        </p:nvSpPr>
        <p:spPr>
          <a:xfrm rot="0">
            <a:off x="6871794" y="236266"/>
            <a:ext cx="7727074" cy="1508667"/>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mô hình kiến trúc</a:t>
            </a:r>
          </a:p>
          <a:p>
            <a:pPr algn="l">
              <a:lnSpc>
                <a:spcPts val="6095"/>
              </a:lnSpc>
              <a:spcBef>
                <a:spcPct val="0"/>
              </a:spcBef>
            </a:pPr>
          </a:p>
        </p:txBody>
      </p:sp>
      <p:sp>
        <p:nvSpPr>
          <p:cNvPr name="TextBox 6" id="6"/>
          <p:cNvSpPr txBox="true"/>
          <p:nvPr/>
        </p:nvSpPr>
        <p:spPr>
          <a:xfrm rot="0">
            <a:off x="474608" y="1898403"/>
            <a:ext cx="6573571" cy="7013576"/>
          </a:xfrm>
          <a:prstGeom prst="rect">
            <a:avLst/>
          </a:prstGeom>
        </p:spPr>
        <p:txBody>
          <a:bodyPr anchor="t" rtlCol="false" tIns="0" lIns="0" bIns="0" rIns="0">
            <a:spAutoFit/>
          </a:bodyPr>
          <a:lstStyle/>
          <a:p>
            <a:pPr algn="l">
              <a:lnSpc>
                <a:spcPts val="3499"/>
              </a:lnSpc>
              <a:spcBef>
                <a:spcPct val="0"/>
              </a:spcBef>
            </a:pPr>
            <a:r>
              <a:rPr lang="en-US" sz="2499" spc="-49">
                <a:solidFill>
                  <a:srgbClr val="051D40"/>
                </a:solidFill>
                <a:latin typeface="Poppins"/>
                <a:ea typeface="Poppins"/>
                <a:cs typeface="Poppins"/>
                <a:sym typeface="Poppins"/>
              </a:rPr>
              <a:t>Hệ thống được thiết kế theo kiến trúc Microservices, trong đó các chức năng được tách thành các dịch vụ độc lập nhằm tăng khả năng mở rộng, bảo trì và tích hợp AI.</a:t>
            </a:r>
          </a:p>
          <a:p>
            <a:pPr algn="l">
              <a:lnSpc>
                <a:spcPts val="3499"/>
              </a:lnSpc>
              <a:spcBef>
                <a:spcPct val="0"/>
              </a:spcBef>
            </a:pPr>
            <a:r>
              <a:rPr lang="en-US" sz="2499" spc="-49">
                <a:solidFill>
                  <a:srgbClr val="051D40"/>
                </a:solidFill>
                <a:latin typeface="Poppins"/>
                <a:ea typeface="Poppins"/>
                <a:cs typeface="Poppins"/>
                <a:sym typeface="Poppins"/>
              </a:rPr>
              <a:t>Phân tách dịch vụ:</a:t>
            </a:r>
          </a:p>
          <a:p>
            <a:pPr algn="l">
              <a:lnSpc>
                <a:spcPts val="3499"/>
              </a:lnSpc>
              <a:spcBef>
                <a:spcPct val="0"/>
              </a:spcBef>
            </a:pPr>
            <a:r>
              <a:rPr lang="en-US" sz="2499" spc="-49">
                <a:solidFill>
                  <a:srgbClr val="051D40"/>
                </a:solidFill>
                <a:latin typeface="Poppins"/>
                <a:ea typeface="Poppins"/>
                <a:cs typeface="Poppins"/>
                <a:sym typeface="Poppins"/>
              </a:rPr>
              <a:t>Core Backend (Laravel): xử lý nghiệp vụ chính, xác thực, quản lý người dùng và dữ liệu – đảm bảo tính ổn định và bảo mật.</a:t>
            </a:r>
          </a:p>
          <a:p>
            <a:pPr algn="l">
              <a:lnSpc>
                <a:spcPts val="3499"/>
              </a:lnSpc>
              <a:spcBef>
                <a:spcPct val="0"/>
              </a:spcBef>
            </a:pPr>
            <a:r>
              <a:rPr lang="en-US" sz="2499" spc="-49">
                <a:solidFill>
                  <a:srgbClr val="051D40"/>
                </a:solidFill>
                <a:latin typeface="Poppins"/>
                <a:ea typeface="Poppins"/>
                <a:cs typeface="Poppins"/>
                <a:sym typeface="Poppins"/>
              </a:rPr>
              <a:t>AI Service (Python): xử lý các tác vụ AI như Chatbot, RAG, tạo quiz tự động – linh hoạt và phù hợp với xử lý dữ liệu lớn.</a:t>
            </a:r>
          </a:p>
          <a:p>
            <a:pPr algn="l">
              <a:lnSpc>
                <a:spcPts val="3499"/>
              </a:lnSpc>
              <a:spcBef>
                <a:spcPct val="0"/>
              </a:spcBef>
            </a:pPr>
            <a:r>
              <a:rPr lang="en-US" sz="2499" spc="-49">
                <a:solidFill>
                  <a:srgbClr val="051D40"/>
                </a:solidFill>
                <a:latin typeface="Poppins"/>
                <a:ea typeface="Poppins"/>
                <a:cs typeface="Poppins"/>
                <a:sym typeface="Poppins"/>
              </a:rPr>
              <a:t>Giao tiếp:</a:t>
            </a:r>
          </a:p>
          <a:p>
            <a:pPr algn="l">
              <a:lnSpc>
                <a:spcPts val="3499"/>
              </a:lnSpc>
              <a:spcBef>
                <a:spcPct val="0"/>
              </a:spcBef>
            </a:pPr>
            <a:r>
              <a:rPr lang="en-US" sz="2499" spc="-49">
                <a:solidFill>
                  <a:srgbClr val="051D40"/>
                </a:solidFill>
                <a:latin typeface="Poppins"/>
                <a:ea typeface="Poppins"/>
                <a:cs typeface="Poppins"/>
                <a:sym typeface="Poppins"/>
              </a:rPr>
              <a:t> Các dịch vụ trao đổi dữ liệu thông qua RESTful API, đảm bảo tính độc lập và dễ mở rộng.</a:t>
            </a:r>
          </a:p>
        </p:txBody>
      </p:sp>
      <p:sp>
        <p:nvSpPr>
          <p:cNvPr name="TextBox 7" id="7"/>
          <p:cNvSpPr txBox="true"/>
          <p:nvPr/>
        </p:nvSpPr>
        <p:spPr>
          <a:xfrm rot="0">
            <a:off x="17738927" y="9540870"/>
            <a:ext cx="412591"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20</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2241181" y="1543060"/>
            <a:ext cx="6046819" cy="7715240"/>
          </a:xfrm>
          <a:custGeom>
            <a:avLst/>
            <a:gdLst/>
            <a:ahLst/>
            <a:cxnLst/>
            <a:rect r="r" b="b" t="t" l="l"/>
            <a:pathLst>
              <a:path h="7715240" w="6046819">
                <a:moveTo>
                  <a:pt x="0" y="0"/>
                </a:moveTo>
                <a:lnTo>
                  <a:pt x="6046819" y="0"/>
                </a:lnTo>
                <a:lnTo>
                  <a:pt x="6046819" y="7715240"/>
                </a:lnTo>
                <a:lnTo>
                  <a:pt x="0" y="7715240"/>
                </a:lnTo>
                <a:lnTo>
                  <a:pt x="0" y="0"/>
                </a:lnTo>
                <a:close/>
              </a:path>
            </a:pathLst>
          </a:custGeom>
          <a:blipFill>
            <a:blip r:embed="rId2"/>
            <a:stretch>
              <a:fillRect l="0" t="0" r="0" b="0"/>
            </a:stretch>
          </a:blipFill>
        </p:spPr>
      </p:sp>
      <p:sp>
        <p:nvSpPr>
          <p:cNvPr name="TextBox 5" id="5"/>
          <p:cNvSpPr txBox="true"/>
          <p:nvPr/>
        </p:nvSpPr>
        <p:spPr>
          <a:xfrm rot="0">
            <a:off x="6871794" y="236266"/>
            <a:ext cx="7727074" cy="1508667"/>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Google OAuth 2.0</a:t>
            </a:r>
          </a:p>
          <a:p>
            <a:pPr algn="l">
              <a:lnSpc>
                <a:spcPts val="6095"/>
              </a:lnSpc>
              <a:spcBef>
                <a:spcPct val="0"/>
              </a:spcBef>
            </a:pPr>
          </a:p>
        </p:txBody>
      </p:sp>
      <p:sp>
        <p:nvSpPr>
          <p:cNvPr name="TextBox 6" id="6"/>
          <p:cNvSpPr txBox="true"/>
          <p:nvPr/>
        </p:nvSpPr>
        <p:spPr>
          <a:xfrm rot="0">
            <a:off x="1028700" y="3579541"/>
            <a:ext cx="8711227" cy="737142"/>
          </a:xfrm>
          <a:prstGeom prst="rect">
            <a:avLst/>
          </a:prstGeom>
        </p:spPr>
        <p:txBody>
          <a:bodyPr anchor="t" rtlCol="false" tIns="0" lIns="0" bIns="0" rIns="0">
            <a:spAutoFit/>
          </a:bodyPr>
          <a:lstStyle/>
          <a:p>
            <a:pPr algn="ctr">
              <a:lnSpc>
                <a:spcPts val="6095"/>
              </a:lnSpc>
              <a:spcBef>
                <a:spcPct val="0"/>
              </a:spcBef>
            </a:pPr>
            <a:r>
              <a:rPr lang="en-US" sz="4353" spc="-87">
                <a:solidFill>
                  <a:srgbClr val="051D40"/>
                </a:solidFill>
                <a:latin typeface="TT Norms"/>
                <a:ea typeface="TT Norms"/>
                <a:cs typeface="TT Norms"/>
                <a:sym typeface="TT Norms"/>
              </a:rPr>
              <a:t>cách quền hệ thống yêu cầu</a:t>
            </a:r>
          </a:p>
        </p:txBody>
      </p:sp>
      <p:sp>
        <p:nvSpPr>
          <p:cNvPr name="TextBox 7" id="7"/>
          <p:cNvSpPr txBox="true"/>
          <p:nvPr/>
        </p:nvSpPr>
        <p:spPr>
          <a:xfrm rot="0">
            <a:off x="17193478" y="9526870"/>
            <a:ext cx="327501"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16</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028700" y="1718664"/>
            <a:ext cx="16675572" cy="5836450"/>
          </a:xfrm>
          <a:custGeom>
            <a:avLst/>
            <a:gdLst/>
            <a:ahLst/>
            <a:cxnLst/>
            <a:rect r="r" b="b" t="t" l="l"/>
            <a:pathLst>
              <a:path h="5836450" w="16675572">
                <a:moveTo>
                  <a:pt x="0" y="0"/>
                </a:moveTo>
                <a:lnTo>
                  <a:pt x="16675572" y="0"/>
                </a:lnTo>
                <a:lnTo>
                  <a:pt x="16675572" y="5836450"/>
                </a:lnTo>
                <a:lnTo>
                  <a:pt x="0" y="5836450"/>
                </a:lnTo>
                <a:lnTo>
                  <a:pt x="0" y="0"/>
                </a:lnTo>
                <a:close/>
              </a:path>
            </a:pathLst>
          </a:custGeom>
          <a:blipFill>
            <a:blip r:embed="rId2"/>
            <a:stretch>
              <a:fillRect l="0" t="0" r="0" b="0"/>
            </a:stretch>
          </a:blipFill>
        </p:spPr>
      </p:sp>
      <p:sp>
        <p:nvSpPr>
          <p:cNvPr name="TextBox 5" id="5"/>
          <p:cNvSpPr txBox="true"/>
          <p:nvPr/>
        </p:nvSpPr>
        <p:spPr>
          <a:xfrm rot="0">
            <a:off x="5723250" y="236266"/>
            <a:ext cx="8875617" cy="2280192"/>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Google OAuth 2.0: Tích hợp Email</a:t>
            </a:r>
          </a:p>
          <a:p>
            <a:pPr algn="l">
              <a:lnSpc>
                <a:spcPts val="6095"/>
              </a:lnSpc>
            </a:pPr>
          </a:p>
          <a:p>
            <a:pPr algn="l">
              <a:lnSpc>
                <a:spcPts val="6095"/>
              </a:lnSpc>
              <a:spcBef>
                <a:spcPct val="0"/>
              </a:spcBef>
            </a:pPr>
          </a:p>
        </p:txBody>
      </p:sp>
      <p:sp>
        <p:nvSpPr>
          <p:cNvPr name="TextBox 6" id="6"/>
          <p:cNvSpPr txBox="true"/>
          <p:nvPr/>
        </p:nvSpPr>
        <p:spPr>
          <a:xfrm rot="0">
            <a:off x="17208718" y="9526870"/>
            <a:ext cx="297021"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17</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365164" y="1543060"/>
            <a:ext cx="17557673" cy="6693863"/>
          </a:xfrm>
          <a:custGeom>
            <a:avLst/>
            <a:gdLst/>
            <a:ahLst/>
            <a:cxnLst/>
            <a:rect r="r" b="b" t="t" l="l"/>
            <a:pathLst>
              <a:path h="6693863" w="17557673">
                <a:moveTo>
                  <a:pt x="0" y="0"/>
                </a:moveTo>
                <a:lnTo>
                  <a:pt x="17557672" y="0"/>
                </a:lnTo>
                <a:lnTo>
                  <a:pt x="17557672" y="6693863"/>
                </a:lnTo>
                <a:lnTo>
                  <a:pt x="0" y="6693863"/>
                </a:lnTo>
                <a:lnTo>
                  <a:pt x="0" y="0"/>
                </a:lnTo>
                <a:close/>
              </a:path>
            </a:pathLst>
          </a:custGeom>
          <a:blipFill>
            <a:blip r:embed="rId2"/>
            <a:stretch>
              <a:fillRect l="0" t="0" r="0" b="0"/>
            </a:stretch>
          </a:blipFill>
        </p:spPr>
      </p:sp>
      <p:sp>
        <p:nvSpPr>
          <p:cNvPr name="TextBox 5" id="5"/>
          <p:cNvSpPr txBox="true"/>
          <p:nvPr/>
        </p:nvSpPr>
        <p:spPr>
          <a:xfrm rot="0">
            <a:off x="3247502" y="236266"/>
            <a:ext cx="11351366" cy="2280192"/>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Google OAuth 2.0: Đồng bộ Google Calendar</a:t>
            </a:r>
          </a:p>
          <a:p>
            <a:pPr algn="l">
              <a:lnSpc>
                <a:spcPts val="6095"/>
              </a:lnSpc>
            </a:pPr>
          </a:p>
          <a:p>
            <a:pPr algn="l">
              <a:lnSpc>
                <a:spcPts val="6095"/>
              </a:lnSpc>
              <a:spcBef>
                <a:spcPct val="0"/>
              </a:spcBef>
            </a:pPr>
          </a:p>
        </p:txBody>
      </p:sp>
      <p:sp>
        <p:nvSpPr>
          <p:cNvPr name="TextBox 6" id="6"/>
          <p:cNvSpPr txBox="true"/>
          <p:nvPr/>
        </p:nvSpPr>
        <p:spPr>
          <a:xfrm rot="0">
            <a:off x="17194113" y="9526870"/>
            <a:ext cx="326231"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18</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886846" y="2248460"/>
            <a:ext cx="16514307" cy="7369510"/>
          </a:xfrm>
          <a:custGeom>
            <a:avLst/>
            <a:gdLst/>
            <a:ahLst/>
            <a:cxnLst/>
            <a:rect r="r" b="b" t="t" l="l"/>
            <a:pathLst>
              <a:path h="7369510" w="16514307">
                <a:moveTo>
                  <a:pt x="0" y="0"/>
                </a:moveTo>
                <a:lnTo>
                  <a:pt x="16514308" y="0"/>
                </a:lnTo>
                <a:lnTo>
                  <a:pt x="16514308" y="7369510"/>
                </a:lnTo>
                <a:lnTo>
                  <a:pt x="0" y="7369510"/>
                </a:lnTo>
                <a:lnTo>
                  <a:pt x="0" y="0"/>
                </a:lnTo>
                <a:close/>
              </a:path>
            </a:pathLst>
          </a:custGeom>
          <a:blipFill>
            <a:blip r:embed="rId2"/>
            <a:stretch>
              <a:fillRect l="0" t="0" r="0" b="0"/>
            </a:stretch>
          </a:blipFill>
        </p:spPr>
      </p:sp>
      <p:sp>
        <p:nvSpPr>
          <p:cNvPr name="TextBox 5" id="5"/>
          <p:cNvSpPr txBox="true"/>
          <p:nvPr/>
        </p:nvSpPr>
        <p:spPr>
          <a:xfrm rot="0">
            <a:off x="4625754" y="236266"/>
            <a:ext cx="9973114" cy="2280192"/>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Google OAuth 2.0: Quản lý Google Drive</a:t>
            </a:r>
          </a:p>
          <a:p>
            <a:pPr algn="l">
              <a:lnSpc>
                <a:spcPts val="6095"/>
              </a:lnSpc>
            </a:pPr>
          </a:p>
          <a:p>
            <a:pPr algn="l">
              <a:lnSpc>
                <a:spcPts val="6095"/>
              </a:lnSpc>
              <a:spcBef>
                <a:spcPct val="0"/>
              </a:spcBef>
            </a:pPr>
          </a:p>
        </p:txBody>
      </p:sp>
      <p:sp>
        <p:nvSpPr>
          <p:cNvPr name="TextBox 6" id="6"/>
          <p:cNvSpPr txBox="true"/>
          <p:nvPr/>
        </p:nvSpPr>
        <p:spPr>
          <a:xfrm rot="0">
            <a:off x="17194351" y="9526870"/>
            <a:ext cx="325755"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19</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TextBox 4" id="4"/>
          <p:cNvSpPr txBox="true"/>
          <p:nvPr/>
        </p:nvSpPr>
        <p:spPr>
          <a:xfrm rot="0">
            <a:off x="6871794" y="236266"/>
            <a:ext cx="7727074" cy="1508667"/>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quy trình rag</a:t>
            </a:r>
          </a:p>
          <a:p>
            <a:pPr algn="l">
              <a:lnSpc>
                <a:spcPts val="6095"/>
              </a:lnSpc>
              <a:spcBef>
                <a:spcPct val="0"/>
              </a:spcBef>
            </a:pPr>
          </a:p>
        </p:txBody>
      </p:sp>
      <p:sp>
        <p:nvSpPr>
          <p:cNvPr name="Freeform 5" id="5"/>
          <p:cNvSpPr/>
          <p:nvPr/>
        </p:nvSpPr>
        <p:spPr>
          <a:xfrm flipH="false" flipV="false" rot="0">
            <a:off x="12459976" y="1543060"/>
            <a:ext cx="5828024" cy="8606278"/>
          </a:xfrm>
          <a:custGeom>
            <a:avLst/>
            <a:gdLst/>
            <a:ahLst/>
            <a:cxnLst/>
            <a:rect r="r" b="b" t="t" l="l"/>
            <a:pathLst>
              <a:path h="8606278" w="5828024">
                <a:moveTo>
                  <a:pt x="0" y="0"/>
                </a:moveTo>
                <a:lnTo>
                  <a:pt x="5828024" y="0"/>
                </a:lnTo>
                <a:lnTo>
                  <a:pt x="5828024" y="8606278"/>
                </a:lnTo>
                <a:lnTo>
                  <a:pt x="0" y="8606278"/>
                </a:lnTo>
                <a:lnTo>
                  <a:pt x="0" y="0"/>
                </a:lnTo>
                <a:close/>
              </a:path>
            </a:pathLst>
          </a:custGeom>
          <a:blipFill>
            <a:blip r:embed="rId2"/>
            <a:stretch>
              <a:fillRect l="-18013" t="-11628" r="-19019" b="-27654"/>
            </a:stretch>
          </a:blipFill>
        </p:spPr>
      </p:sp>
      <p:sp>
        <p:nvSpPr>
          <p:cNvPr name="TextBox 6" id="6"/>
          <p:cNvSpPr txBox="true"/>
          <p:nvPr/>
        </p:nvSpPr>
        <p:spPr>
          <a:xfrm rot="0">
            <a:off x="634365" y="2888964"/>
            <a:ext cx="10851830" cy="2632075"/>
          </a:xfrm>
          <a:prstGeom prst="rect">
            <a:avLst/>
          </a:prstGeom>
        </p:spPr>
        <p:txBody>
          <a:bodyPr anchor="t" rtlCol="false" tIns="0" lIns="0" bIns="0" rIns="0">
            <a:spAutoFit/>
          </a:bodyPr>
          <a:lstStyle/>
          <a:p>
            <a:pPr algn="just">
              <a:lnSpc>
                <a:spcPts val="3499"/>
              </a:lnSpc>
              <a:spcBef>
                <a:spcPct val="0"/>
              </a:spcBef>
            </a:pPr>
            <a:r>
              <a:rPr lang="en-US" sz="2499" spc="-49">
                <a:solidFill>
                  <a:srgbClr val="051D40"/>
                </a:solidFill>
                <a:latin typeface="Poppins"/>
                <a:ea typeface="Poppins"/>
                <a:cs typeface="Poppins"/>
                <a:sym typeface="Poppins"/>
              </a:rPr>
              <a:t>Hệ thống sử dụng mô hình RAG để trả lời câu hỏi một cách chính xác.</a:t>
            </a:r>
          </a:p>
          <a:p>
            <a:pPr algn="just">
              <a:lnSpc>
                <a:spcPts val="3499"/>
              </a:lnSpc>
              <a:spcBef>
                <a:spcPct val="0"/>
              </a:spcBef>
            </a:pPr>
            <a:r>
              <a:rPr lang="en-US" sz="2499" spc="-49">
                <a:solidFill>
                  <a:srgbClr val="051D40"/>
                </a:solidFill>
                <a:latin typeface="Poppins"/>
                <a:ea typeface="Poppins"/>
                <a:cs typeface="Poppins"/>
                <a:sym typeface="Poppins"/>
              </a:rPr>
              <a:t> Câu hỏi của người dùng được chuyển thành vector embedding, sau đó tìm kiếm các tài liệu liên quan trong cơ sở dữ liệu vector bằng semantic search.</a:t>
            </a:r>
          </a:p>
          <a:p>
            <a:pPr algn="just">
              <a:lnSpc>
                <a:spcPts val="3499"/>
              </a:lnSpc>
              <a:spcBef>
                <a:spcPct val="0"/>
              </a:spcBef>
            </a:pPr>
            <a:r>
              <a:rPr lang="en-US" sz="2499" spc="-49">
                <a:solidFill>
                  <a:srgbClr val="051D40"/>
                </a:solidFill>
                <a:latin typeface="Poppins"/>
                <a:ea typeface="Poppins"/>
                <a:cs typeface="Poppins"/>
                <a:sym typeface="Poppins"/>
              </a:rPr>
              <a:t> Những tài liệu này được đưa vào làm ngữ cảnh cho mô hình ngôn ngữ lớn, từ đó AI sinh ra câu trả lời dựa trên dữ liệu thực tế thay vì suy đoán.</a:t>
            </a:r>
          </a:p>
        </p:txBody>
      </p:sp>
      <p:sp>
        <p:nvSpPr>
          <p:cNvPr name="TextBox 7" id="7"/>
          <p:cNvSpPr txBox="true"/>
          <p:nvPr/>
        </p:nvSpPr>
        <p:spPr>
          <a:xfrm rot="0">
            <a:off x="634365" y="6866944"/>
            <a:ext cx="10410587" cy="2193925"/>
          </a:xfrm>
          <a:prstGeom prst="rect">
            <a:avLst/>
          </a:prstGeom>
        </p:spPr>
        <p:txBody>
          <a:bodyPr anchor="t" rtlCol="false" tIns="0" lIns="0" bIns="0" rIns="0">
            <a:spAutoFit/>
          </a:bodyPr>
          <a:lstStyle/>
          <a:p>
            <a:pPr algn="just">
              <a:lnSpc>
                <a:spcPts val="3499"/>
              </a:lnSpc>
              <a:spcBef>
                <a:spcPct val="0"/>
              </a:spcBef>
            </a:pPr>
            <a:r>
              <a:rPr lang="en-US" sz="2499" spc="-49">
                <a:solidFill>
                  <a:srgbClr val="051D40"/>
                </a:solidFill>
                <a:latin typeface="Poppins"/>
                <a:ea typeface="Poppins"/>
                <a:cs typeface="Poppins"/>
                <a:sym typeface="Poppins"/>
              </a:rPr>
              <a:t>🎯 Ý nghĩa của RAG trong hệ thống</a:t>
            </a:r>
          </a:p>
          <a:p>
            <a:pPr algn="just">
              <a:lnSpc>
                <a:spcPts val="3499"/>
              </a:lnSpc>
              <a:spcBef>
                <a:spcPct val="0"/>
              </a:spcBef>
            </a:pPr>
            <a:r>
              <a:rPr lang="en-US" sz="2499" spc="-49">
                <a:solidFill>
                  <a:srgbClr val="051D40"/>
                </a:solidFill>
                <a:latin typeface="Poppins"/>
                <a:ea typeface="Poppins"/>
                <a:cs typeface="Poppins"/>
                <a:sym typeface="Poppins"/>
              </a:rPr>
              <a:t>✔️ Giảm hallucination (AI bịa)</a:t>
            </a:r>
          </a:p>
          <a:p>
            <a:pPr algn="just">
              <a:lnSpc>
                <a:spcPts val="3499"/>
              </a:lnSpc>
              <a:spcBef>
                <a:spcPct val="0"/>
              </a:spcBef>
            </a:pPr>
            <a:r>
              <a:rPr lang="en-US" sz="2499" spc="-49">
                <a:solidFill>
                  <a:srgbClr val="051D40"/>
                </a:solidFill>
                <a:latin typeface="Poppins"/>
                <a:ea typeface="Poppins"/>
                <a:cs typeface="Poppins"/>
                <a:sym typeface="Poppins"/>
              </a:rPr>
              <a:t> ✔️ Trả lời đúng theo tài liệu giáo dục</a:t>
            </a:r>
          </a:p>
          <a:p>
            <a:pPr algn="just">
              <a:lnSpc>
                <a:spcPts val="3499"/>
              </a:lnSpc>
              <a:spcBef>
                <a:spcPct val="0"/>
              </a:spcBef>
            </a:pPr>
            <a:r>
              <a:rPr lang="en-US" sz="2499" spc="-49">
                <a:solidFill>
                  <a:srgbClr val="051D40"/>
                </a:solidFill>
                <a:latin typeface="Poppins"/>
                <a:ea typeface="Poppins"/>
                <a:cs typeface="Poppins"/>
                <a:sym typeface="Poppins"/>
              </a:rPr>
              <a:t> ✔️ Dễ cập nhật kiến thức (chỉ cần cập nhật DB, không cần train lại AI)</a:t>
            </a:r>
          </a:p>
          <a:p>
            <a:pPr algn="just">
              <a:lnSpc>
                <a:spcPts val="3499"/>
              </a:lnSpc>
              <a:spcBef>
                <a:spcPct val="0"/>
              </a:spcBef>
            </a:pPr>
            <a:r>
              <a:rPr lang="en-US" sz="2499" spc="-49">
                <a:solidFill>
                  <a:srgbClr val="051D40"/>
                </a:solidFill>
                <a:latin typeface="Poppins"/>
                <a:ea typeface="Poppins"/>
                <a:cs typeface="Poppins"/>
                <a:sym typeface="Poppins"/>
              </a:rPr>
              <a:t> ✔️ Phù hợp cho hệ thống học tập, trợ giảng AI</a:t>
            </a:r>
          </a:p>
        </p:txBody>
      </p:sp>
      <p:sp>
        <p:nvSpPr>
          <p:cNvPr name="TextBox 8" id="8"/>
          <p:cNvSpPr txBox="true"/>
          <p:nvPr/>
        </p:nvSpPr>
        <p:spPr>
          <a:xfrm rot="0">
            <a:off x="17203718" y="9526870"/>
            <a:ext cx="307023"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21</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1957812" y="1543060"/>
            <a:ext cx="14372376" cy="6898740"/>
          </a:xfrm>
          <a:custGeom>
            <a:avLst/>
            <a:gdLst/>
            <a:ahLst/>
            <a:cxnLst/>
            <a:rect r="r" b="b" t="t" l="l"/>
            <a:pathLst>
              <a:path h="6898740" w="14372376">
                <a:moveTo>
                  <a:pt x="0" y="0"/>
                </a:moveTo>
                <a:lnTo>
                  <a:pt x="14372376" y="0"/>
                </a:lnTo>
                <a:lnTo>
                  <a:pt x="14372376" y="6898740"/>
                </a:lnTo>
                <a:lnTo>
                  <a:pt x="0" y="6898740"/>
                </a:lnTo>
                <a:lnTo>
                  <a:pt x="0" y="0"/>
                </a:lnTo>
                <a:close/>
              </a:path>
            </a:pathLst>
          </a:custGeom>
          <a:blipFill>
            <a:blip r:embed="rId2"/>
            <a:stretch>
              <a:fillRect l="0" t="0" r="0" b="0"/>
            </a:stretch>
          </a:blipFill>
        </p:spPr>
      </p:sp>
      <p:sp>
        <p:nvSpPr>
          <p:cNvPr name="TextBox 5" id="5"/>
          <p:cNvSpPr txBox="true"/>
          <p:nvPr/>
        </p:nvSpPr>
        <p:spPr>
          <a:xfrm rot="0">
            <a:off x="5079813" y="460264"/>
            <a:ext cx="7727074" cy="1508667"/>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Hệ Thống Bảo Mật Dự Án</a:t>
            </a:r>
          </a:p>
          <a:p>
            <a:pPr algn="l">
              <a:lnSpc>
                <a:spcPts val="6095"/>
              </a:lnSpc>
              <a:spcBef>
                <a:spcPct val="0"/>
              </a:spcBef>
            </a:pPr>
          </a:p>
        </p:txBody>
      </p:sp>
      <p:sp>
        <p:nvSpPr>
          <p:cNvPr name="TextBox 6" id="6"/>
          <p:cNvSpPr txBox="true"/>
          <p:nvPr/>
        </p:nvSpPr>
        <p:spPr>
          <a:xfrm rot="0">
            <a:off x="17160061" y="9526870"/>
            <a:ext cx="394335"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22</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0800000">
            <a:off x="-2160221" y="-2774373"/>
            <a:ext cx="22608443" cy="4317433"/>
            <a:chOff x="0" y="0"/>
            <a:chExt cx="16414556" cy="3134614"/>
          </a:xfrm>
        </p:grpSpPr>
        <p:sp>
          <p:nvSpPr>
            <p:cNvPr name="Freeform 4" id="4"/>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5" id="5"/>
          <p:cNvSpPr/>
          <p:nvPr/>
        </p:nvSpPr>
        <p:spPr>
          <a:xfrm flipH="false" flipV="false" rot="0">
            <a:off x="307922" y="1675474"/>
            <a:ext cx="8836078" cy="5809722"/>
          </a:xfrm>
          <a:custGeom>
            <a:avLst/>
            <a:gdLst/>
            <a:ahLst/>
            <a:cxnLst/>
            <a:rect r="r" b="b" t="t" l="l"/>
            <a:pathLst>
              <a:path h="5809722" w="8836078">
                <a:moveTo>
                  <a:pt x="0" y="0"/>
                </a:moveTo>
                <a:lnTo>
                  <a:pt x="8836078" y="0"/>
                </a:lnTo>
                <a:lnTo>
                  <a:pt x="8836078" y="5809721"/>
                </a:lnTo>
                <a:lnTo>
                  <a:pt x="0" y="5809721"/>
                </a:lnTo>
                <a:lnTo>
                  <a:pt x="0" y="0"/>
                </a:lnTo>
                <a:close/>
              </a:path>
            </a:pathLst>
          </a:custGeom>
          <a:blipFill>
            <a:blip r:embed="rId3"/>
            <a:stretch>
              <a:fillRect l="0" t="0" r="0" b="0"/>
            </a:stretch>
          </a:blipFill>
        </p:spPr>
      </p:sp>
      <p:sp>
        <p:nvSpPr>
          <p:cNvPr name="Freeform 6" id="6"/>
          <p:cNvSpPr/>
          <p:nvPr/>
        </p:nvSpPr>
        <p:spPr>
          <a:xfrm flipH="false" flipV="false" rot="0">
            <a:off x="9009310" y="1781943"/>
            <a:ext cx="9189142" cy="4077682"/>
          </a:xfrm>
          <a:custGeom>
            <a:avLst/>
            <a:gdLst/>
            <a:ahLst/>
            <a:cxnLst/>
            <a:rect r="r" b="b" t="t" l="l"/>
            <a:pathLst>
              <a:path h="4077682" w="9189142">
                <a:moveTo>
                  <a:pt x="0" y="0"/>
                </a:moveTo>
                <a:lnTo>
                  <a:pt x="9189142" y="0"/>
                </a:lnTo>
                <a:lnTo>
                  <a:pt x="9189142" y="4077682"/>
                </a:lnTo>
                <a:lnTo>
                  <a:pt x="0" y="4077682"/>
                </a:lnTo>
                <a:lnTo>
                  <a:pt x="0" y="0"/>
                </a:lnTo>
                <a:close/>
              </a:path>
            </a:pathLst>
          </a:custGeom>
          <a:blipFill>
            <a:blip r:embed="rId4"/>
            <a:stretch>
              <a:fillRect l="0" t="0" r="0" b="0"/>
            </a:stretch>
          </a:blipFill>
        </p:spPr>
      </p:sp>
      <p:sp>
        <p:nvSpPr>
          <p:cNvPr name="TextBox 7" id="7"/>
          <p:cNvSpPr txBox="true"/>
          <p:nvPr/>
        </p:nvSpPr>
        <p:spPr>
          <a:xfrm rot="0">
            <a:off x="2332987" y="7456620"/>
            <a:ext cx="8572500" cy="250165"/>
          </a:xfrm>
          <a:prstGeom prst="rect">
            <a:avLst/>
          </a:prstGeom>
        </p:spPr>
        <p:txBody>
          <a:bodyPr anchor="t" rtlCol="false" tIns="0" lIns="0" bIns="0" rIns="0">
            <a:spAutoFit/>
          </a:bodyPr>
          <a:lstStyle/>
          <a:p>
            <a:pPr algn="l">
              <a:lnSpc>
                <a:spcPts val="1799"/>
              </a:lnSpc>
            </a:pPr>
            <a:r>
              <a:rPr lang="en-US" sz="1454" i="true">
                <a:solidFill>
                  <a:srgbClr val="666666"/>
                </a:solidFill>
                <a:latin typeface="Calibri (MS) Italics"/>
                <a:ea typeface="Calibri (MS) Italics"/>
                <a:cs typeface="Calibri (MS) Italics"/>
                <a:sym typeface="Calibri (MS) Italics"/>
              </a:rPr>
              <a:t>Hình 2.1: Minh họa cấu trúc giao diện Website</a:t>
            </a:r>
          </a:p>
        </p:txBody>
      </p:sp>
      <p:sp>
        <p:nvSpPr>
          <p:cNvPr name="TextBox 8" id="8"/>
          <p:cNvSpPr txBox="true"/>
          <p:nvPr/>
        </p:nvSpPr>
        <p:spPr>
          <a:xfrm rot="0">
            <a:off x="3648973" y="39291"/>
            <a:ext cx="17145000" cy="1084659"/>
          </a:xfrm>
          <a:prstGeom prst="rect">
            <a:avLst/>
          </a:prstGeom>
        </p:spPr>
        <p:txBody>
          <a:bodyPr anchor="t" rtlCol="false" tIns="0" lIns="0" bIns="0" rIns="0">
            <a:spAutoFit/>
          </a:bodyPr>
          <a:lstStyle/>
          <a:p>
            <a:pPr algn="l">
              <a:lnSpc>
                <a:spcPts val="6399"/>
              </a:lnSpc>
            </a:pPr>
            <a:r>
              <a:rPr lang="en-US" sz="4872" b="true">
                <a:solidFill>
                  <a:srgbClr val="1A1A1A"/>
                </a:solidFill>
                <a:latin typeface="Calibri (MS) Bold"/>
                <a:ea typeface="Calibri (MS) Bold"/>
                <a:cs typeface="Calibri (MS) Bold"/>
                <a:sym typeface="Calibri (MS) Bold"/>
              </a:rPr>
              <a:t>2.3. Phác thảo giao diện (Mockup)</a:t>
            </a:r>
          </a:p>
        </p:txBody>
      </p:sp>
      <p:sp>
        <p:nvSpPr>
          <p:cNvPr name="TextBox 9" id="9"/>
          <p:cNvSpPr txBox="true"/>
          <p:nvPr/>
        </p:nvSpPr>
        <p:spPr>
          <a:xfrm rot="0">
            <a:off x="12515210" y="5831050"/>
            <a:ext cx="1965484" cy="240665"/>
          </a:xfrm>
          <a:prstGeom prst="rect">
            <a:avLst/>
          </a:prstGeom>
        </p:spPr>
        <p:txBody>
          <a:bodyPr anchor="t" rtlCol="false" tIns="0" lIns="0" bIns="0" rIns="0">
            <a:spAutoFit/>
          </a:bodyPr>
          <a:lstStyle/>
          <a:p>
            <a:pPr algn="ctr">
              <a:lnSpc>
                <a:spcPts val="1960"/>
              </a:lnSpc>
              <a:spcBef>
                <a:spcPct val="0"/>
              </a:spcBef>
            </a:pPr>
            <a:r>
              <a:rPr lang="en-US" sz="1400" i="true" spc="-28">
                <a:solidFill>
                  <a:srgbClr val="000000"/>
                </a:solidFill>
                <a:latin typeface="TT Norms Italics"/>
                <a:ea typeface="TT Norms Italics"/>
                <a:cs typeface="TT Norms Italics"/>
                <a:sym typeface="TT Norms Italics"/>
              </a:rPr>
              <a:t>Hình 2.2: Trang đăng nhập</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596016" y="1836380"/>
            <a:ext cx="17412129" cy="7421920"/>
          </a:xfrm>
          <a:custGeom>
            <a:avLst/>
            <a:gdLst/>
            <a:ahLst/>
            <a:cxnLst/>
            <a:rect r="r" b="b" t="t" l="l"/>
            <a:pathLst>
              <a:path h="7421920" w="17412129">
                <a:moveTo>
                  <a:pt x="0" y="0"/>
                </a:moveTo>
                <a:lnTo>
                  <a:pt x="17412130" y="0"/>
                </a:lnTo>
                <a:lnTo>
                  <a:pt x="17412130" y="7421920"/>
                </a:lnTo>
                <a:lnTo>
                  <a:pt x="0" y="7421920"/>
                </a:lnTo>
                <a:lnTo>
                  <a:pt x="0" y="0"/>
                </a:lnTo>
                <a:close/>
              </a:path>
            </a:pathLst>
          </a:custGeom>
          <a:blipFill>
            <a:blip r:embed="rId2"/>
            <a:stretch>
              <a:fillRect l="0" t="0" r="0" b="0"/>
            </a:stretch>
          </a:blipFill>
        </p:spPr>
      </p:sp>
      <p:sp>
        <p:nvSpPr>
          <p:cNvPr name="TextBox 5" id="5"/>
          <p:cNvSpPr txBox="true"/>
          <p:nvPr/>
        </p:nvSpPr>
        <p:spPr>
          <a:xfrm rot="0">
            <a:off x="5280463" y="586263"/>
            <a:ext cx="7727074" cy="1508667"/>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So sánh RAG AI và Prompt Chat</a:t>
            </a:r>
          </a:p>
          <a:p>
            <a:pPr algn="l">
              <a:lnSpc>
                <a:spcPts val="6095"/>
              </a:lnSpc>
              <a:spcBef>
                <a:spcPct val="0"/>
              </a:spcBef>
            </a:pPr>
          </a:p>
        </p:txBody>
      </p:sp>
      <p:sp>
        <p:nvSpPr>
          <p:cNvPr name="TextBox 6" id="6"/>
          <p:cNvSpPr txBox="true"/>
          <p:nvPr/>
        </p:nvSpPr>
        <p:spPr>
          <a:xfrm rot="0">
            <a:off x="17157601" y="9526870"/>
            <a:ext cx="399256"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23</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10800000">
            <a:off x="-2160221" y="-2774373"/>
            <a:ext cx="22608443" cy="4317433"/>
            <a:chOff x="0" y="0"/>
            <a:chExt cx="16414556" cy="3134614"/>
          </a:xfrm>
        </p:grpSpPr>
        <p:sp>
          <p:nvSpPr>
            <p:cNvPr name="Freeform 3" id="3"/>
            <p:cNvSpPr/>
            <p:nvPr/>
          </p:nvSpPr>
          <p:spPr>
            <a:xfrm flipH="false" flipV="false" rot="0">
              <a:off x="0" y="0"/>
              <a:ext cx="16414556" cy="3134614"/>
            </a:xfrm>
            <a:custGeom>
              <a:avLst/>
              <a:gdLst/>
              <a:ahLst/>
              <a:cxnLst/>
              <a:rect r="r" b="b" t="t" l="l"/>
              <a:pathLst>
                <a:path h="3134614" w="16414556">
                  <a:moveTo>
                    <a:pt x="16414556" y="1567307"/>
                  </a:moveTo>
                  <a:lnTo>
                    <a:pt x="15509681" y="3134614"/>
                  </a:lnTo>
                  <a:lnTo>
                    <a:pt x="904875" y="3134614"/>
                  </a:lnTo>
                  <a:lnTo>
                    <a:pt x="0" y="1567307"/>
                  </a:lnTo>
                  <a:lnTo>
                    <a:pt x="904875" y="0"/>
                  </a:lnTo>
                  <a:lnTo>
                    <a:pt x="15509554" y="0"/>
                  </a:lnTo>
                  <a:lnTo>
                    <a:pt x="16414556" y="1567307"/>
                  </a:lnTo>
                  <a:close/>
                </a:path>
              </a:pathLst>
            </a:custGeom>
            <a:solidFill>
              <a:srgbClr val="F8C719"/>
            </a:solidFill>
          </p:spPr>
        </p:sp>
      </p:grpSp>
      <p:sp>
        <p:nvSpPr>
          <p:cNvPr name="Freeform 4" id="4"/>
          <p:cNvSpPr/>
          <p:nvPr/>
        </p:nvSpPr>
        <p:spPr>
          <a:xfrm flipH="false" flipV="false" rot="0">
            <a:off x="869035" y="1744934"/>
            <a:ext cx="16549930" cy="7426781"/>
          </a:xfrm>
          <a:custGeom>
            <a:avLst/>
            <a:gdLst/>
            <a:ahLst/>
            <a:cxnLst/>
            <a:rect r="r" b="b" t="t" l="l"/>
            <a:pathLst>
              <a:path h="7426781" w="16549930">
                <a:moveTo>
                  <a:pt x="0" y="0"/>
                </a:moveTo>
                <a:lnTo>
                  <a:pt x="16549930" y="0"/>
                </a:lnTo>
                <a:lnTo>
                  <a:pt x="16549930" y="7426781"/>
                </a:lnTo>
                <a:lnTo>
                  <a:pt x="0" y="7426781"/>
                </a:lnTo>
                <a:lnTo>
                  <a:pt x="0" y="0"/>
                </a:lnTo>
                <a:close/>
              </a:path>
            </a:pathLst>
          </a:custGeom>
          <a:blipFill>
            <a:blip r:embed="rId2"/>
            <a:stretch>
              <a:fillRect l="0" t="0" r="0" b="0"/>
            </a:stretch>
          </a:blipFill>
        </p:spPr>
      </p:sp>
      <p:sp>
        <p:nvSpPr>
          <p:cNvPr name="TextBox 5" id="5"/>
          <p:cNvSpPr txBox="true"/>
          <p:nvPr/>
        </p:nvSpPr>
        <p:spPr>
          <a:xfrm rot="0">
            <a:off x="5709806" y="502263"/>
            <a:ext cx="7727074" cy="1508667"/>
          </a:xfrm>
          <a:prstGeom prst="rect">
            <a:avLst/>
          </a:prstGeom>
        </p:spPr>
        <p:txBody>
          <a:bodyPr anchor="t" rtlCol="false" tIns="0" lIns="0" bIns="0" rIns="0">
            <a:spAutoFit/>
          </a:bodyPr>
          <a:lstStyle/>
          <a:p>
            <a:pPr algn="l">
              <a:lnSpc>
                <a:spcPts val="6095"/>
              </a:lnSpc>
            </a:pPr>
            <a:r>
              <a:rPr lang="en-US" sz="4353" spc="-87">
                <a:solidFill>
                  <a:srgbClr val="051D40"/>
                </a:solidFill>
                <a:latin typeface="TT Norms"/>
                <a:ea typeface="TT Norms"/>
                <a:cs typeface="TT Norms"/>
                <a:sym typeface="TT Norms"/>
              </a:rPr>
              <a:t>Kết luận và Hướng phát triển</a:t>
            </a:r>
          </a:p>
          <a:p>
            <a:pPr algn="l">
              <a:lnSpc>
                <a:spcPts val="6095"/>
              </a:lnSpc>
              <a:spcBef>
                <a:spcPct val="0"/>
              </a:spcBef>
            </a:pPr>
          </a:p>
        </p:txBody>
      </p:sp>
      <p:sp>
        <p:nvSpPr>
          <p:cNvPr name="TextBox 6" id="6"/>
          <p:cNvSpPr txBox="true"/>
          <p:nvPr/>
        </p:nvSpPr>
        <p:spPr>
          <a:xfrm rot="0">
            <a:off x="17150775" y="9526870"/>
            <a:ext cx="412909" cy="483870"/>
          </a:xfrm>
          <a:prstGeom prst="rect">
            <a:avLst/>
          </a:prstGeom>
        </p:spPr>
        <p:txBody>
          <a:bodyPr anchor="t" rtlCol="false" tIns="0" lIns="0" bIns="0" rIns="0">
            <a:spAutoFit/>
          </a:bodyPr>
          <a:lstStyle/>
          <a:p>
            <a:pPr algn="ctr">
              <a:lnSpc>
                <a:spcPts val="3779"/>
              </a:lnSpc>
              <a:spcBef>
                <a:spcPct val="0"/>
              </a:spcBef>
            </a:pPr>
            <a:r>
              <a:rPr lang="en-US" sz="2700">
                <a:solidFill>
                  <a:srgbClr val="051D40"/>
                </a:solidFill>
                <a:latin typeface="Poppins"/>
                <a:ea typeface="Poppins"/>
                <a:cs typeface="Poppins"/>
                <a:sym typeface="Poppins"/>
              </a:rPr>
              <a:t>24</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3458" r="0" b="-4763"/>
            </a:stretch>
          </a:blipFill>
        </p:spPr>
      </p:sp>
      <p:sp>
        <p:nvSpPr>
          <p:cNvPr name="TextBox 3" id="3"/>
          <p:cNvSpPr txBox="true"/>
          <p:nvPr/>
        </p:nvSpPr>
        <p:spPr>
          <a:xfrm rot="0">
            <a:off x="-652912" y="2408244"/>
            <a:ext cx="20471273" cy="1435099"/>
          </a:xfrm>
          <a:prstGeom prst="rect">
            <a:avLst/>
          </a:prstGeom>
        </p:spPr>
        <p:txBody>
          <a:bodyPr anchor="t" rtlCol="false" tIns="0" lIns="0" bIns="0" rIns="0">
            <a:spAutoFit/>
          </a:bodyPr>
          <a:lstStyle/>
          <a:p>
            <a:pPr algn="ctr">
              <a:lnSpc>
                <a:spcPts val="9999"/>
              </a:lnSpc>
            </a:pPr>
            <a:r>
              <a:rPr lang="en-US" sz="9999">
                <a:solidFill>
                  <a:srgbClr val="FFD72F"/>
                </a:solidFill>
                <a:latin typeface="Perandory"/>
                <a:ea typeface="Perandory"/>
                <a:cs typeface="Perandory"/>
                <a:sym typeface="Perandory"/>
              </a:rPr>
              <a:t>CẢM ƠN THẦY CÔ ĐÃ LẮNG NGHE</a:t>
            </a:r>
          </a:p>
        </p:txBody>
      </p:sp>
      <p:sp>
        <p:nvSpPr>
          <p:cNvPr name="AutoShape 4" id="4"/>
          <p:cNvSpPr/>
          <p:nvPr/>
        </p:nvSpPr>
        <p:spPr>
          <a:xfrm>
            <a:off x="1028700" y="1870082"/>
            <a:ext cx="16230600" cy="0"/>
          </a:xfrm>
          <a:prstGeom prst="line">
            <a:avLst/>
          </a:prstGeom>
          <a:ln cap="flat" w="28575">
            <a:solidFill>
              <a:srgbClr val="FFD72F"/>
            </a:solidFill>
            <a:prstDash val="solid"/>
            <a:headEnd type="none" len="sm" w="sm"/>
            <a:tailEnd type="none" len="sm" w="sm"/>
          </a:ln>
        </p:spPr>
      </p:sp>
      <p:sp>
        <p:nvSpPr>
          <p:cNvPr name="Freeform 5" id="5"/>
          <p:cNvSpPr/>
          <p:nvPr/>
        </p:nvSpPr>
        <p:spPr>
          <a:xfrm flipH="false" flipV="false" rot="0">
            <a:off x="8534173" y="8290018"/>
            <a:ext cx="1219654" cy="304913"/>
          </a:xfrm>
          <a:custGeom>
            <a:avLst/>
            <a:gdLst/>
            <a:ahLst/>
            <a:cxnLst/>
            <a:rect r="r" b="b" t="t" l="l"/>
            <a:pathLst>
              <a:path h="304913" w="1219654">
                <a:moveTo>
                  <a:pt x="0" y="0"/>
                </a:moveTo>
                <a:lnTo>
                  <a:pt x="1219654" y="0"/>
                </a:lnTo>
                <a:lnTo>
                  <a:pt x="1219654" y="304913"/>
                </a:lnTo>
                <a:lnTo>
                  <a:pt x="0" y="3049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797569" y="4177953"/>
            <a:ext cx="14692863" cy="4416978"/>
          </a:xfrm>
          <a:prstGeom prst="rect">
            <a:avLst/>
          </a:prstGeom>
        </p:spPr>
        <p:txBody>
          <a:bodyPr anchor="t" rtlCol="false" tIns="0" lIns="0" bIns="0" rIns="0">
            <a:spAutoFit/>
          </a:bodyPr>
          <a:lstStyle/>
          <a:p>
            <a:pPr algn="ctr">
              <a:lnSpc>
                <a:spcPts val="4998"/>
              </a:lnSpc>
            </a:pPr>
            <a:r>
              <a:rPr lang="en-US" sz="4165">
                <a:solidFill>
                  <a:srgbClr val="000000"/>
                </a:solidFill>
                <a:latin typeface="Fira Code"/>
                <a:ea typeface="Fira Code"/>
                <a:cs typeface="Fira Code"/>
                <a:sym typeface="Fira Code"/>
              </a:rPr>
              <a:t>"NHÓM CHÚNG EM XIN CHÂN THÀNH CẢM ƠN THẦY THẠCH KONG SAOANE ĐÃ TẬN TÌNH HƯỚNG DẪN ĐỂ CHÚNG EM HOÀN THÀNH ĐỒ ÁN NÀY."</a:t>
            </a:r>
          </a:p>
          <a:p>
            <a:pPr algn="ctr">
              <a:lnSpc>
                <a:spcPts val="4998"/>
              </a:lnSpc>
            </a:pPr>
          </a:p>
          <a:p>
            <a:pPr algn="ctr">
              <a:lnSpc>
                <a:spcPts val="4998"/>
              </a:lnSpc>
            </a:pPr>
            <a:r>
              <a:rPr lang="en-US" sz="4165">
                <a:solidFill>
                  <a:srgbClr val="000000"/>
                </a:solidFill>
                <a:latin typeface="Fira Code"/>
                <a:ea typeface="Fira Code"/>
                <a:cs typeface="Fira Code"/>
                <a:sym typeface="Fira Code"/>
              </a:rPr>
              <a:t>"CHÚNG EM XIN SẴN SÀNG LẮNG NGHE CÁC CÂU HỎI VÀ GÓP Ý."</a:t>
            </a:r>
          </a:p>
          <a:p>
            <a:pPr algn="ctr">
              <a:lnSpc>
                <a:spcPts val="4998"/>
              </a:lnSpc>
            </a:pPr>
          </a:p>
        </p:txBody>
      </p:sp>
      <p:sp>
        <p:nvSpPr>
          <p:cNvPr name="TextBox 7" id="7"/>
          <p:cNvSpPr txBox="true"/>
          <p:nvPr/>
        </p:nvSpPr>
        <p:spPr>
          <a:xfrm rot="0">
            <a:off x="7030051" y="1028700"/>
            <a:ext cx="5447552" cy="390525"/>
          </a:xfrm>
          <a:prstGeom prst="rect">
            <a:avLst/>
          </a:prstGeom>
        </p:spPr>
        <p:txBody>
          <a:bodyPr anchor="t" rtlCol="false" tIns="0" lIns="0" bIns="0" rIns="0">
            <a:spAutoFit/>
          </a:bodyPr>
          <a:lstStyle/>
          <a:p>
            <a:pPr algn="l">
              <a:lnSpc>
                <a:spcPts val="3120"/>
              </a:lnSpc>
            </a:pPr>
            <a:r>
              <a:rPr lang="en-US" sz="2600">
                <a:solidFill>
                  <a:srgbClr val="FFD72F"/>
                </a:solidFill>
                <a:latin typeface="Fira Code"/>
                <a:ea typeface="Fira Code"/>
                <a:cs typeface="Fira Code"/>
                <a:sym typeface="Fira Code"/>
              </a:rPr>
              <a:t>Bài thuyết trình Kết thúc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DAG945eEgZs</dc:identifier>
  <dcterms:modified xsi:type="dcterms:W3CDTF">2011-08-01T06:04:30Z</dcterms:modified>
  <cp:revision>1</cp:revision>
  <dc:title>BaoCaoBaoktmon</dc:title>
</cp:coreProperties>
</file>